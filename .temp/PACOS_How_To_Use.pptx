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FFFFFF"/>
                </a:solidFill>
                <a:latin typeface="Segoe UI"/>
              </a:rPr>
              <a:t>PAC</a:t>
            </a:r>
            <a:r>
              <a:rPr sz="7200" b="1">
                <a:solidFill>
                  <a:srgbClr val="E84A2F"/>
                </a:solidFill>
                <a:latin typeface="Segoe UI"/>
              </a:rPr>
              <a:t>OS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63240"/>
            <a:ext cx="2926080" cy="635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2918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CFCFE0"/>
                </a:solidFill>
                <a:latin typeface="Segoe UI"/>
              </a:rPr>
              <a:t>Personal AI Career 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2336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9AB8"/>
                </a:solidFill>
                <a:latin typeface="Segoe UI"/>
              </a:rPr>
              <a:t>A hands-on guide: what it is, how the pieces fit, and how to drive it day to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60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A7A92"/>
                </a:solidFill>
                <a:latin typeface="Segoe UI"/>
              </a:rPr>
              <a:t>Multi-agent (LangGraph)  ·  Nemotron  ·  SQLite  ·  React + FastAPI  ·  human-in-the-loop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START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What PACOS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Segoe UI"/>
              </a:rPr>
              <a:t>PACOS turns a manual job search into a small, local pipeline. It generates personalised outreach for each lead, watches your Gmail for recruiter signals, and keeps one live tracker so nothing slips.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FFF5F2"/>
          </a:solidFill>
          <a:ln w="12700">
            <a:solidFill>
              <a:srgbClr val="F3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4A2F"/>
                </a:solidFill>
                <a:latin typeface="Segoe UI"/>
              </a:rPr>
              <a:t>⚑  The golden rule: PACOS never sends anything. </a:t>
            </a:r>
            <a:r>
              <a:rPr sz="1400" b="0">
                <a:solidFill>
                  <a:srgbClr val="1A1A2E"/>
                </a:solidFill>
                <a:latin typeface="Segoe UI"/>
              </a:rPr>
              <a:t>It writes the messages; you review, copy, and send them yourself. The inbox monitor is strictly read-only.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3566160" cy="128016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3108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A1A2E"/>
                </a:solidFill>
                <a:latin typeface="Segoe UI"/>
              </a:rPr>
              <a:t>Generate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B7B"/>
                </a:solidFill>
                <a:latin typeface="Segoe UI"/>
              </a:rPr>
              <a:t>One personalisation agent + four asset agents write a cold email, DM, cover letter, and CV notes per lead — all on the same hook.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56616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3566160"/>
            <a:ext cx="3566160" cy="128016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840480"/>
            <a:ext cx="3108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A1A2E"/>
                </a:solidFill>
                <a:latin typeface="Segoe UI"/>
              </a:rPr>
              <a:t>Listen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B7B"/>
                </a:solidFill>
                <a:latin typeface="Segoe UI"/>
              </a:rPr>
              <a:t>A read-only Gmail monitor parses job alerts and matches recruiter replies to the right lead by exact email.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56616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566160"/>
            <a:ext cx="3566160" cy="128016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840480"/>
            <a:ext cx="3108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A1A2E"/>
                </a:solidFill>
                <a:latin typeface="Segoe UI"/>
              </a:rPr>
              <a:t>Track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B7B"/>
                </a:solidFill>
                <a:latin typeface="Segoe UI"/>
              </a:rPr>
              <a:t>One SQLite store holds every lead's status, follow-ups, and replies. A daily digest tells you what to do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THE BIG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How the System Fits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Three layers, all local. A React dashboard (or the CLI) drives a FastAPI backend, which runs the pipeline and reads/writes one SQLite 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5394960" cy="640080"/>
          </a:xfrm>
          <a:prstGeom prst="roundRect">
            <a:avLst>
              <a:gd name="adj" fmla="val 8000"/>
            </a:avLst>
          </a:prstGeom>
          <a:solidFill>
            <a:srgbClr val="5B5BE6"/>
          </a:solidFill>
          <a:ln w="12700">
            <a:solidFill>
              <a:srgbClr val="5B5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65960"/>
            <a:ext cx="517550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React Dashboard (browser)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localhost:5173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65960"/>
            <a:ext cx="5394960" cy="640080"/>
          </a:xfrm>
          <a:prstGeom prst="roundRect">
            <a:avLst>
              <a:gd name="adj" fmla="val 8000"/>
            </a:avLst>
          </a:prstGeom>
          <a:solidFill>
            <a:srgbClr val="2A2A44"/>
          </a:solidFill>
          <a:ln w="12700">
            <a:solidFill>
              <a:srgbClr val="2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965960"/>
            <a:ext cx="517550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Command line (pacos …)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same actions, no browser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2697480"/>
            <a:ext cx="5486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6517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6B7B"/>
                </a:solidFill>
                <a:latin typeface="Segoe UI"/>
              </a:rPr>
              <a:t>▼   HTTP / function calls   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3063240"/>
            <a:ext cx="7406640" cy="59436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270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063240"/>
            <a:ext cx="7187184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FastAPI backend  +  Service layer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wraps the tested core; never sends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033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6B7B"/>
                </a:solidFill>
                <a:latin typeface="Segoe UI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6908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69080"/>
            <a:ext cx="128016" cy="13716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062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A2E"/>
                </a:solidFill>
                <a:latin typeface="Segoe UI"/>
              </a:rPr>
              <a:t>Layer 1 — Generator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6B6B7B"/>
                </a:solidFill>
                <a:latin typeface="Segoe UI"/>
              </a:rPr>
              <a:t>LangGraph multi-agent graph. Nemotron writes the 4 assets per lead.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06908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4069080"/>
            <a:ext cx="128016" cy="1371600"/>
          </a:xfrm>
          <a:prstGeom prst="rect">
            <a:avLst/>
          </a:prstGeom>
          <a:solidFill>
            <a:srgbClr val="5B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2062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A2E"/>
                </a:solidFill>
                <a:latin typeface="Segoe UI"/>
              </a:rPr>
              <a:t>Layer 2 — Inbox Monitor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6B6B7B"/>
                </a:solidFill>
                <a:latin typeface="Segoe UI"/>
              </a:rPr>
              <a:t>Read-only Gmail. Exact-match replies; unmatched go to a queue.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06908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4069080"/>
            <a:ext cx="128016" cy="13716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2062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A2E"/>
                </a:solidFill>
                <a:latin typeface="Segoe UI"/>
              </a:rPr>
              <a:t>Layer 3 — Tracker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6B6B7B"/>
                </a:solidFill>
                <a:latin typeface="Segoe UI"/>
              </a:rPr>
              <a:t>SQLite (pacos.db) = source of truth. Status, follow-ups, digest.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F3F3F7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623560"/>
            <a:ext cx="1084478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2E"/>
                </a:solidFill>
                <a:latin typeface="Segoe UI"/>
              </a:rPr>
              <a:t>pacos.db  —  one local SQLite file (leads · tracker · agent status · unmatched replies · checkpoints)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LAYER 1 IN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The Generation Pipeline (per lead)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For each lead, a supervisor runs one Personalization agent, then fans out to four asset agents in parallel — all sharing the same hook so the outreach reads coherently.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488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270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48840"/>
            <a:ext cx="252374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Personalization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1 Nemotron call →
the shared hook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29000" y="2514600"/>
            <a:ext cx="640080" cy="201168"/>
          </a:xfrm>
          <a:prstGeom prst="rightArrow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874519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874519"/>
            <a:ext cx="15636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Cold Email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6B7B"/>
                </a:solidFill>
                <a:latin typeface="Segoe UI"/>
              </a:rPr>
              <a:t>5–7 lines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74519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74519"/>
            <a:ext cx="15636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Cold DM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6B7B"/>
                </a:solidFill>
                <a:latin typeface="Segoe UI"/>
              </a:rPr>
              <a:t>3–4 lines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926079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2926079"/>
            <a:ext cx="15636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Cover Letter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6B7B"/>
                </a:solidFill>
                <a:latin typeface="Segoe UI"/>
              </a:rPr>
              <a:t>150–200 wd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926079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926079"/>
            <a:ext cx="15636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CV Notes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6B7B"/>
                </a:solidFill>
                <a:latin typeface="Segoe UI"/>
              </a:rPr>
              <a:t>5–8 bullets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458200" y="2514600"/>
            <a:ext cx="548640" cy="201168"/>
          </a:xfrm>
          <a:prstGeom prst="rightArrow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2057400"/>
            <a:ext cx="2468880" cy="1097280"/>
          </a:xfrm>
          <a:prstGeom prst="roundRect">
            <a:avLst>
              <a:gd name="adj" fmla="val 8000"/>
            </a:avLst>
          </a:prstGeom>
          <a:solidFill>
            <a:srgbClr val="1F9D55"/>
          </a:solidFill>
          <a:ln w="1270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2057400"/>
            <a:ext cx="224942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output/{Company}_{First}/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4 ready-to-send
.txt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03320"/>
            <a:ext cx="10972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Shared hook: </a:t>
            </a:r>
            <a:r>
              <a:rPr sz="1350" b="0">
                <a:solidFill>
                  <a:srgbClr val="1A1A2E"/>
                </a:solidFill>
                <a:latin typeface="Segoe UI"/>
              </a:rPr>
              <a:t>the Personalization agent finds one specific angle; every asset opens on it, so they feel written by one person.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Conditional skip: </a:t>
            </a:r>
            <a:r>
              <a:rPr sz="1350" b="0">
                <a:solidFill>
                  <a:srgbClr val="1A1A2E"/>
                </a:solidFill>
                <a:latin typeface="Segoe UI"/>
              </a:rPr>
              <a:t>if a lead has no email, the cold-email agent is skipped automatically (the file notes it).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Review hooks (optional): </a:t>
            </a:r>
            <a:r>
              <a:rPr sz="1350" b="0">
                <a:solidFill>
                  <a:srgbClr val="1A1A2E"/>
                </a:solidFill>
                <a:latin typeface="Segoe UI"/>
              </a:rPr>
              <a:t>turn on the toggle to approve or edit each hook before the 4 asset agents spend tokens.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Live status: </a:t>
            </a:r>
            <a:r>
              <a:rPr sz="1350" b="0">
                <a:solidFill>
                  <a:srgbClr val="1A1A2E"/>
                </a:solidFill>
                <a:latin typeface="Segoe UI"/>
              </a:rPr>
              <a:t>each agent reports running → done to the store, so the dashboard's Agent board is real, not decorative.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Resumable: </a:t>
            </a:r>
            <a:r>
              <a:rPr sz="1350" b="0">
                <a:solidFill>
                  <a:srgbClr val="1A1A2E"/>
                </a:solidFill>
                <a:latin typeface="Segoe UI"/>
              </a:rPr>
              <a:t>runs are checkpointed in SQLite — a big batch that fails part-way resumes without re-spending tokens.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WHERE DATA COMES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How Data Gets Into PACOS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Two inbound paths. Leads come from a CSV you maintain; reply signals come from Gmail. Both land in pacos.db.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4A2F"/>
                </a:solidFill>
                <a:latin typeface="Segoe UI"/>
              </a:rPr>
              <a:t>PATH A — LEADS (the main input)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3120"/>
            <a:ext cx="22860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03120"/>
            <a:ext cx="20665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data/leads.csv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6B7B"/>
                </a:solidFill>
                <a:latin typeface="Segoe UI"/>
              </a:rPr>
              <a:t>you maintain it
(no scraping)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26080" y="2423160"/>
            <a:ext cx="502920" cy="201168"/>
          </a:xfrm>
          <a:prstGeom prst="rightArrow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0440" y="210312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2A2A44"/>
          </a:solidFill>
          <a:ln w="12700">
            <a:solidFill>
              <a:srgbClr val="2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2103120"/>
            <a:ext cx="24323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load_leads()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parse + derive
first_name · domain_tag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263640" y="2423160"/>
            <a:ext cx="502920" cy="201168"/>
          </a:xfrm>
          <a:prstGeom prst="rightArrow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210312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2A2A44"/>
          </a:solidFill>
          <a:ln w="12700">
            <a:solidFill>
              <a:srgbClr val="2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2103120"/>
            <a:ext cx="24323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ingest_leads()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upsert by lead_id
+ tracker row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601200" y="2423160"/>
            <a:ext cx="457200" cy="201168"/>
          </a:xfrm>
          <a:prstGeom prst="rightArrow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49840" y="2103120"/>
            <a:ext cx="1463040" cy="868680"/>
          </a:xfrm>
          <a:prstGeom prst="roundRect">
            <a:avLst>
              <a:gd name="adj" fmla="val 8000"/>
            </a:avLst>
          </a:prstGeom>
          <a:solidFill>
            <a:srgbClr val="1F9D55"/>
          </a:solidFill>
          <a:ln w="1270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59568" y="2103120"/>
            <a:ext cx="124358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pacos.db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461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5BE6"/>
                </a:solidFill>
                <a:latin typeface="Segoe UI"/>
              </a:rPr>
              <a:t>PATH B — REPLY SIGNALS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66160"/>
            <a:ext cx="22860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566160"/>
            <a:ext cx="20665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Gmail (read-only)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6B7B"/>
                </a:solidFill>
                <a:latin typeface="Segoe UI"/>
              </a:rPr>
              <a:t>alerts + replies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926080" y="3886200"/>
            <a:ext cx="502920" cy="201168"/>
          </a:xfrm>
          <a:prstGeom prst="rightArrow">
            <a:avLst/>
          </a:prstGeom>
          <a:solidFill>
            <a:srgbClr val="5B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20440" y="356616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2A2A44"/>
          </a:solidFill>
          <a:ln w="12700">
            <a:solidFill>
              <a:srgbClr val="2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0168" y="3566160"/>
            <a:ext cx="24323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inbox monitor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exact email match?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263640" y="3886200"/>
            <a:ext cx="502920" cy="201168"/>
          </a:xfrm>
          <a:prstGeom prst="rightArrow">
            <a:avLst/>
          </a:prstGeom>
          <a:solidFill>
            <a:srgbClr val="5B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0" y="3566160"/>
            <a:ext cx="4754880" cy="868680"/>
          </a:xfrm>
          <a:prstGeom prst="roundRect">
            <a:avLst>
              <a:gd name="adj" fmla="val 8000"/>
            </a:avLst>
          </a:prstGeom>
          <a:solidFill>
            <a:srgbClr val="1F9D55"/>
          </a:solidFill>
          <a:ln w="1270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7728" y="3566160"/>
            <a:ext cx="453542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match → lead's tracker row   ·   no match → unmatched queue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F3F3F7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89204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When ingestion runs: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A2E"/>
                </a:solidFill>
                <a:latin typeface="Segoe UI"/>
              </a:rPr>
              <a:t>•  Explicitly — </a:t>
            </a:r>
            <a:r>
              <a:rPr sz="1200" b="0">
                <a:solidFill>
                  <a:srgbClr val="E84A2F"/>
                </a:solidFill>
                <a:latin typeface="Consolas"/>
              </a:rPr>
              <a:t>pacos ingest</a:t>
            </a:r>
            <a:r>
              <a:rPr sz="1250" b="0">
                <a:solidFill>
                  <a:srgbClr val="1A1A2E"/>
                </a:solidFill>
                <a:latin typeface="Segoe UI"/>
              </a:rPr>
              <a:t>   loads leads.csv into the DB.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A2E"/>
                </a:solidFill>
                <a:latin typeface="Segoe UI"/>
              </a:rPr>
              <a:t>•  Automatically — </a:t>
            </a:r>
            <a:r>
              <a:rPr sz="1250" b="0">
                <a:solidFill>
                  <a:srgbClr val="1A1A2E"/>
                </a:solidFill>
                <a:latin typeface="Segoe UI"/>
              </a:rPr>
              <a:t>the CLI and backend auto-ingest on first run if the DB is empty.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A2E"/>
                </a:solidFill>
                <a:latin typeface="Segoe UI"/>
              </a:rPr>
              <a:t>•  Before every generate — </a:t>
            </a:r>
            <a:r>
              <a:rPr sz="1250" b="0">
                <a:solidFill>
                  <a:srgbClr val="1A1A2E"/>
                </a:solidFill>
                <a:latin typeface="Segoe UI"/>
              </a:rPr>
              <a:t>re-ingests so edits to leads.csv are picked up. Upsert-by-lead_id means no duplicates and tracker state is preserved.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DO THIS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84A2F"/>
                </a:solidFill>
                <a:latin typeface="Segoe UI"/>
              </a:rPr>
              <a:t>•  </a:t>
            </a:r>
            <a:r>
              <a:rPr sz="1400" b="1">
                <a:solidFill>
                  <a:srgbClr val="1A1A2E"/>
                </a:solidFill>
                <a:latin typeface="Segoe UI"/>
              </a:rPr>
              <a:t>Create the environment </a:t>
            </a:r>
            <a:r>
              <a:rPr sz="1400" b="0">
                <a:solidFill>
                  <a:srgbClr val="1A1A2E"/>
                </a:solidFill>
                <a:latin typeface="Segoe UI"/>
              </a:rPr>
              <a:t>— a Python venv, then install the package (editable).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84A2F"/>
                </a:solidFill>
                <a:latin typeface="Segoe UI"/>
              </a:rPr>
              <a:t>•  </a:t>
            </a:r>
            <a:r>
              <a:rPr sz="1400" b="1">
                <a:solidFill>
                  <a:srgbClr val="1A1A2E"/>
                </a:solidFill>
                <a:latin typeface="Segoe UI"/>
              </a:rPr>
              <a:t>Add your Nemotron key </a:t>
            </a:r>
            <a:r>
              <a:rPr sz="1400" b="0">
                <a:solidFill>
                  <a:srgbClr val="1A1A2E"/>
                </a:solidFill>
                <a:latin typeface="Segoe UI"/>
              </a:rPr>
              <a:t>— free from build.nvidia.com → any Nemotron model → Get API Key.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84A2F"/>
                </a:solidFill>
                <a:latin typeface="Segoe UI"/>
              </a:rPr>
              <a:t>•  </a:t>
            </a:r>
            <a:r>
              <a:rPr sz="1400" b="1">
                <a:solidFill>
                  <a:srgbClr val="1A1A2E"/>
                </a:solidFill>
                <a:latin typeface="Segoe UI"/>
              </a:rPr>
              <a:t>Provide leads </a:t>
            </a:r>
            <a:r>
              <a:rPr sz="1400" b="0">
                <a:solidFill>
                  <a:srgbClr val="1A1A2E"/>
                </a:solidFill>
                <a:latin typeface="Segoe UI"/>
              </a:rPr>
              <a:t>— copy the sample, or drop in your own leads.csv.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84A2F"/>
                </a:solidFill>
                <a:latin typeface="Segoe UI"/>
              </a:rPr>
              <a:t>•  </a:t>
            </a:r>
            <a:r>
              <a:rPr sz="1400" b="1">
                <a:solidFill>
                  <a:srgbClr val="1A1A2E"/>
                </a:solidFill>
                <a:latin typeface="Segoe UI"/>
              </a:rPr>
              <a:t>(Optional) Gmail </a:t>
            </a:r>
            <a:r>
              <a:rPr sz="1400" b="0">
                <a:solidFill>
                  <a:srgbClr val="1A1A2E"/>
                </a:solidFill>
                <a:latin typeface="Segoe UI"/>
              </a:rPr>
              <a:t>— only if you want the inbox monitor; one-time OAuth.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481328"/>
            <a:ext cx="5020056" cy="3346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8AB0"/>
                </a:solidFill>
                <a:latin typeface="Segoe UI"/>
              </a:rPr>
              <a:t>terminal · run from the pacos/ folder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python -m venv .venv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.venv\Scripts\activate        # Windows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pip install -e 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copy .env.example .env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#   → set NVIDIA_API_KEY=...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copy data\sample_leads.csv data\leads.csv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pacos ingest                  # load into pacos.db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120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6B7B"/>
                </a:solidFill>
                <a:latin typeface="Segoe UI"/>
              </a:rPr>
              <a:t>Without a key, everything still runs in </a:t>
            </a:r>
            <a:r>
              <a:rPr sz="1300" b="1">
                <a:solidFill>
                  <a:srgbClr val="E84A2F"/>
                </a:solidFill>
                <a:latin typeface="Segoe UI"/>
              </a:rPr>
              <a:t>dry-run</a:t>
            </a:r>
            <a:r>
              <a:rPr sz="1300" b="0">
                <a:solidFill>
                  <a:srgbClr val="6B6B7B"/>
                </a:solidFill>
                <a:latin typeface="Segoe UI"/>
              </a:rPr>
              <a:t> mode (template placeholders) — great for trying the flow before spending a single token.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Running the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Two small servers. Start each in its own terminal, then open the browser. Prefer the CLI? Skip both and use pacos commands directly.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29968"/>
            <a:ext cx="5157216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8AB0"/>
                </a:solidFill>
                <a:latin typeface="Segoe UI"/>
              </a:rPr>
              <a:t>backend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# terminal 1 — backend (API)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.venv\Scripts\python -m uvicorn \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    backend.main:app --port 8000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2024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2029968"/>
            <a:ext cx="5111496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8AB0"/>
                </a:solidFill>
                <a:latin typeface="Segoe UI"/>
              </a:rPr>
              <a:t>frontend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# terminal 2 — frontend (dashboard)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cd frontend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npm install     # first time only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npm run dev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5B5BE6"/>
          </a:solidFill>
          <a:ln w="12700">
            <a:solidFill>
              <a:srgbClr val="5B5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749039"/>
            <a:ext cx="1084478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Then open  →  http://localhost:5173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the dashboard proxies to the backend automatically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0916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A1A2E"/>
                </a:solidFill>
                <a:latin typeface="Segoe UI"/>
              </a:rPr>
              <a:t>The five tabs, left to right, are the workflow: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E84A2F"/>
                </a:solidFill>
                <a:latin typeface="Segoe UI"/>
              </a:rPr>
              <a:t>Dashboard → Leads → Assets → Approvals → Tracker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6B6B7B"/>
                </a:solidFill>
                <a:latin typeface="Segoe UI"/>
              </a:rPr>
              <a:t>Generate outreach, review it, mark what you sent, and watch the pipeline — in that order.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USING THE APP · TAB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Dashboard — Generate &amp; Watch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5778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Stat tiles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leads, with-assets, follow-ups due, interested, interviews at a glance.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Generate with Nemotron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runs the full pipeline for every lead and writes the asset files.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Dry-run (templates)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same flow, no API call; use it to test without a key.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Review hooks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tick this to approve each lead's hook before the asset agents run.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Agent status board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the six agents light up idle → running → done as a run executes. This is live state from the store.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What you'll click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011680"/>
            <a:ext cx="4892040" cy="105156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2121408"/>
            <a:ext cx="4562856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 Generate with Nemotron ]   ← real copy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 Dry-run (templates)   ]   ← no tokens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[x] Review hooks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46120"/>
            <a:ext cx="4937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A1A2E"/>
                </a:solidFill>
                <a:latin typeface="Segoe UI"/>
              </a:rPr>
              <a:t>Agent board (during a run):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F9D55"/>
                </a:solidFill>
                <a:latin typeface="Consolas"/>
              </a:rPr>
              <a:t>● Personalization   done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D9822B"/>
                </a:solidFill>
                <a:latin typeface="Consolas"/>
              </a:rPr>
              <a:t>● Cold Email        running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F9D55"/>
                </a:solidFill>
                <a:latin typeface="Consolas"/>
              </a:rPr>
              <a:t>● Cold DM           done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F9D55"/>
                </a:solidFill>
                <a:latin typeface="Consolas"/>
              </a:rPr>
              <a:t>● Cover Letter      done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D9822B"/>
                </a:solidFill>
                <a:latin typeface="Consolas"/>
              </a:rPr>
              <a:t>● CV Notes          running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B6B7B"/>
                </a:solidFill>
                <a:latin typeface="Consolas"/>
              </a:rPr>
              <a:t>○ Inbox Monitor     idle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USING THE APP · TAB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Leads &amp; Assets — Review the Copy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5778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Leads tab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every lead with its auto domain tone and channel (email+dm or dm-only). Click a row to jump to its assets.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Assets tab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pick a lead, read the four generated files, and hit Copy.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This is the send step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you paste the copied text into Gmail or LinkedIn yourself. PACOS never sends.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Coherence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all four assets open on the same personalised hook.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Always read before sending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the model can occasionally embellish; you are the last check.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The four files per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4937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E84A2F"/>
                </a:solidFill>
                <a:latin typeface="Consolas"/>
              </a:rPr>
              <a:t>cold_email.txt   </a:t>
            </a:r>
            <a:r>
              <a:rPr sz="1200" b="0">
                <a:solidFill>
                  <a:srgbClr val="6B6B7B"/>
                </a:solidFill>
                <a:latin typeface="Segoe UI"/>
              </a:rPr>
              <a:t>— primary outreach when email is known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E84A2F"/>
                </a:solidFill>
                <a:latin typeface="Consolas"/>
              </a:rPr>
              <a:t>cold_dm.txt   </a:t>
            </a:r>
            <a:r>
              <a:rPr sz="1200" b="0">
                <a:solidFill>
                  <a:srgbClr val="6B6B7B"/>
                </a:solidFill>
                <a:latin typeface="Segoe UI"/>
              </a:rPr>
              <a:t>— LinkedIn DM, the no-email channel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E84A2F"/>
                </a:solidFill>
                <a:latin typeface="Consolas"/>
              </a:rPr>
              <a:t>cover_letter.txt   </a:t>
            </a:r>
            <a:r>
              <a:rPr sz="1200" b="0">
                <a:solidFill>
                  <a:srgbClr val="6B6B7B"/>
                </a:solidFill>
                <a:latin typeface="Segoe UI"/>
              </a:rPr>
              <a:t>— for formal applications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E84A2F"/>
                </a:solidFill>
                <a:latin typeface="Consolas"/>
              </a:rPr>
              <a:t>cv_notes.txt   </a:t>
            </a:r>
            <a:r>
              <a:rPr sz="1200" b="0">
                <a:solidFill>
                  <a:srgbClr val="6B6B7B"/>
                </a:solidFill>
                <a:latin typeface="Segoe UI"/>
              </a:rPr>
              <a:t>— how to tweak your CV for this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57200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6B7B"/>
                </a:solidFill>
                <a:latin typeface="Segoe UI"/>
              </a:rPr>
              <a:t>Output lives on disk too:  </a:t>
            </a:r>
            <a:r>
              <a:rPr sz="1150" b="1">
                <a:solidFill>
                  <a:srgbClr val="1A1A2E"/>
                </a:solidFill>
                <a:latin typeface="Consolas"/>
              </a:rPr>
              <a:t>output/{Company}_{First}/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USING THE APP · TAB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Approvals — Human-in-the-Loop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This is where you record real-world actions. Nothing here sends — it logs what you did so the tracker stays honest.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3566160" cy="45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Ready to send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31089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B7B"/>
                </a:solidFill>
                <a:latin typeface="Segoe UI"/>
              </a:rPr>
              <a:t>Leads with assets, still pending. After you paste &amp; send, click Email / DM / Both to log the channel. Follow-up auto-scheduled (+5 days).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96596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965960"/>
            <a:ext cx="3566160" cy="45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01168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Awaiting reply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606040"/>
            <a:ext cx="31089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B7B"/>
                </a:solidFill>
                <a:latin typeface="Segoe UI"/>
              </a:rPr>
              <a:t>Leads you've sent. When they respond, click Interested / Follow-up / Rejected to record the reply.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96596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965960"/>
            <a:ext cx="3566160" cy="45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01168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Unmatched replies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606040"/>
            <a:ext cx="31089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B7B"/>
                </a:solidFill>
                <a:latin typeface="Segoe UI"/>
              </a:rPr>
              <a:t>Recruiter emails the monitor couldn't match by email. Pick the right lead and click Link to associate them.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3F3F7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892040"/>
            <a:ext cx="10844784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A1A2E"/>
                </a:solidFill>
                <a:latin typeface="Segoe UI"/>
              </a:rPr>
              <a:t>Status flow:  pending → sent → replied → interested → interview → offer   (any reply can branch to rejected)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each transition is one click here or one CLI command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USING THE APP · TAB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Tracker — The Whole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Pipeline table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every lead in the pipeline with status, dates, channel, reply intent, and follow-up due.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Inline status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change any lead's status from a dropdown.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Daily digest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the same summary you'd read each morning: interviews, warm leads, follow-ups due, unmatched replies, new job alerts.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Export anytime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pacos export writes tracker.csv for Excel/Sheets.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5303520" cy="402336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572768"/>
            <a:ext cx="4974336" cy="3803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8AB0"/>
                </a:solidFill>
                <a:latin typeface="Segoe UI"/>
              </a:rPr>
              <a:t>Tracker › Daily digest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PACOS daily digest — 2026-07-04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====================================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Pipeline: interested:2 interview:1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         pending:2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[!] Interview invites (1)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   • Rohan Desai — PeakFlow Labs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[*] Interested / warm (2)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   • Aarav Mehta — Nurix AI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[&gt;] Follow-ups due (0)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[?] Unmatched replies (0)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[+] New job alerts 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LAYER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The Inbox Monitor (optional)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Read-only Gmail. It turns your inbox into structured signal — and never sends, deletes, or labels anything.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One-time setup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create OAuth credentials in Google Cloud, then run the auth script once.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Job alerts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LinkedIn / Naukri alert emails append to new_jobs.csv.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Replies (exact match)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a reply updates a lead only if the sender email equals that lead's email.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Unmatched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everything else goes to the queue for you to associate by hand (no wrong guesses).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920240"/>
            <a:ext cx="5303520" cy="237744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2029968"/>
            <a:ext cx="4974336" cy="2157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8AB0"/>
                </a:solidFill>
                <a:latin typeface="Segoe UI"/>
              </a:rPr>
              <a:t>commands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python scripts/auth_gmail.py   # once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pacos monitor --days 1         # read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pacos associate                # list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pacos associate &lt;reply_id&gt; &lt;lead_id&gt;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480560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E4F7EC"/>
          </a:solidFill>
          <a:ln w="12700">
            <a:solidFill>
              <a:srgbClr val="B6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480560"/>
            <a:ext cx="4846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6B38"/>
                </a:solidFill>
                <a:latin typeface="Segoe UI"/>
              </a:rPr>
              <a:t>Read-only by design — scope is gmail.readonly. It cannot modify your mailbox.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POWER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Command-Line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6B7B"/>
                </a:solidFill>
                <a:latin typeface="Segoe UI"/>
              </a:rPr>
              <a:t>Everything the dashboard does, the CLI does too. Run from the pacos/ folder.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691640"/>
          <a:ext cx="11064239" cy="4224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53404"/>
                <a:gridCol w="5310835"/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Command</a:t>
                      </a:r>
                    </a:p>
                  </a:txBody>
                  <a:tcPr marL="73152" marR="54864" marT="27432" marB="27432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What it does</a:t>
                      </a:r>
                    </a:p>
                  </a:txBody>
                  <a:tcPr marL="73152" marR="54864" marT="27432" marB="27432" anchor="ctr"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ingest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Load data/leads.csv into pacos.db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leads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Preview parsed leads + domain tags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generate [--dry-run] [--limit N] [--review-hooks]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Run the agent pipeline; write assets + tracker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sent &lt;id&gt; --channel email|dm|both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Mark an approved outreach as sent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reply &lt;id&gt; --intent interested|rejected|follow-up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Record a recruiter reply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status &lt;id&gt; &lt;status&gt;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Move a lead along the status flow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monitor --days 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Read Gmail, match replies (exact)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associate [&lt;reply_id&gt; &lt;lead_id&gt;]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List / link unmatched replies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digest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Print today's action list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export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Write tracker.csv from the store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The Model &amp; Settings (.env)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PACOS runs on NVIDIA Nemotron via an OpenAI-compatible endpoint. Swap the model with one line — no code change.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920240"/>
          <a:ext cx="11064239" cy="29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83126"/>
                <a:gridCol w="7081113"/>
              </a:tblGrid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Setting (.env)</a:t>
                      </a:r>
                    </a:p>
                  </a:txBody>
                  <a:tcPr marL="73152" marR="54864" marT="27432" marB="27432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Purpose / default</a:t>
                      </a:r>
                    </a:p>
                  </a:txBody>
                  <a:tcPr marL="73152" marR="54864" marT="27432" marB="27432" anchor="ctr">
                    <a:solidFill>
                      <a:srgbClr val="1A1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NVIDIA_API_KEY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Your Nemotron key (required for real generation)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NEMOTRON_MODEL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e.g. nvidia/nemotron-3-ultra-550b-a55b  or  llama-3.1-nemotron-70b-instruct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NEMOTRON_BASE_URL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https://integrate.api.nvidia.com/v1  (OpenAI-compatible)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LEADS_CSV_PATH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data/leads.csv  (your input sheet)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FOLLOW_UP_DAYS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5  (auto follow-up window after a send)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CANDIDATE_NAME / HEADLINE / EMAIL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signs your outreach; feeds personalisation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1663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6B7B"/>
                </a:solidFill>
                <a:latin typeface="Segoe UI"/>
              </a:rPr>
              <a:t>Because the endpoint is OpenAI-compatible, you can also point </a:t>
            </a:r>
            <a:r>
              <a:rPr sz="1250" b="1">
                <a:solidFill>
                  <a:srgbClr val="1A1A2E"/>
                </a:solidFill>
                <a:latin typeface="Consolas"/>
              </a:rPr>
              <a:t>NEMOTRON_BASE_URL</a:t>
            </a:r>
            <a:r>
              <a:rPr sz="1300" b="0">
                <a:solidFill>
                  <a:srgbClr val="6B6B7B"/>
                </a:solidFill>
                <a:latin typeface="Segoe UI"/>
              </a:rPr>
              <a:t> at a self-hosted NIM container without touching the code.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Golden Rules &amp; Everyday Rhythm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4A2F"/>
                </a:solidFill>
                <a:latin typeface="Segoe UI"/>
              </a:rPr>
              <a:t>Golden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00" b="0">
                <a:solidFill>
                  <a:srgbClr val="1A1A2E"/>
                </a:solidFill>
                <a:latin typeface="Segoe UI"/>
              </a:rPr>
              <a:t>PACOS never sends — you copy-paste every message.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00" b="0">
                <a:solidFill>
                  <a:srgbClr val="1A1A2E"/>
                </a:solidFill>
                <a:latin typeface="Segoe UI"/>
              </a:rPr>
              <a:t>Always read an asset before sending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00" b="0">
                <a:solidFill>
                  <a:srgbClr val="1A1A2E"/>
                </a:solidFill>
                <a:latin typeface="Segoe UI"/>
              </a:rPr>
              <a:t>The inbox monitor is read-only.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00" b="0">
                <a:solidFill>
                  <a:srgbClr val="1A1A2E"/>
                </a:solidFill>
                <a:latin typeface="Segoe UI"/>
              </a:rPr>
              <a:t>pacos.db is the source of truth; tracker.csv is an export.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00" b="0">
                <a:solidFill>
                  <a:srgbClr val="1A1A2E"/>
                </a:solidFill>
                <a:latin typeface="Segoe UI"/>
              </a:rPr>
              <a:t>Dry-run first when trying anything new — no tokens.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00" b="0">
                <a:solidFill>
                  <a:srgbClr val="1A1A2E"/>
                </a:solidFill>
                <a:latin typeface="Segoe UI"/>
              </a:rPr>
              <a:t>leads.csv is yours to edit; re-generate to refresh.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34924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5BE6"/>
                </a:solidFill>
                <a:latin typeface="Segoe UI"/>
              </a:rPr>
              <a:t>A typical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48920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250" b="1">
                <a:solidFill>
                  <a:srgbClr val="1A1A2E"/>
                </a:solidFill>
                <a:latin typeface="Segoe UI"/>
              </a:rPr>
              <a:t>Add leads </a:t>
            </a:r>
            <a:r>
              <a:rPr sz="1250" b="0">
                <a:solidFill>
                  <a:srgbClr val="1A1A2E"/>
                </a:solidFill>
                <a:latin typeface="Segoe UI"/>
              </a:rPr>
              <a:t>→ edit data/leads.csv.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250" b="1">
                <a:solidFill>
                  <a:srgbClr val="1A1A2E"/>
                </a:solidFill>
                <a:latin typeface="Segoe UI"/>
              </a:rPr>
              <a:t>Generate </a:t>
            </a:r>
            <a:r>
              <a:rPr sz="1250" b="0">
                <a:solidFill>
                  <a:srgbClr val="1A1A2E"/>
                </a:solidFill>
                <a:latin typeface="Segoe UI"/>
              </a:rPr>
              <a:t>→ Dashboard ‘Generate with Nemotron’.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250" b="1">
                <a:solidFill>
                  <a:srgbClr val="1A1A2E"/>
                </a:solidFill>
                <a:latin typeface="Segoe UI"/>
              </a:rPr>
              <a:t>Review &amp; send </a:t>
            </a:r>
            <a:r>
              <a:rPr sz="1250" b="0">
                <a:solidFill>
                  <a:srgbClr val="1A1A2E"/>
                </a:solidFill>
                <a:latin typeface="Segoe UI"/>
              </a:rPr>
              <a:t>→ Assets tab, copy, paste into Gmail/LinkedIn (Tue–Thu mornings).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250" b="1">
                <a:solidFill>
                  <a:srgbClr val="1A1A2E"/>
                </a:solidFill>
                <a:latin typeface="Segoe UI"/>
              </a:rPr>
              <a:t>Log it </a:t>
            </a:r>
            <a:r>
              <a:rPr sz="1250" b="0">
                <a:solidFill>
                  <a:srgbClr val="1A1A2E"/>
                </a:solidFill>
                <a:latin typeface="Segoe UI"/>
              </a:rPr>
              <a:t>→ Approvals: mark sent.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250" b="1">
                <a:solidFill>
                  <a:srgbClr val="1A1A2E"/>
                </a:solidFill>
                <a:latin typeface="Segoe UI"/>
              </a:rPr>
              <a:t>Listen </a:t>
            </a:r>
            <a:r>
              <a:rPr sz="1250" b="0">
                <a:solidFill>
                  <a:srgbClr val="1A1A2E"/>
                </a:solidFill>
                <a:latin typeface="Segoe UI"/>
              </a:rPr>
              <a:t>→ pacos monitor daily; associate unmatched.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250" b="1">
                <a:solidFill>
                  <a:srgbClr val="1A1A2E"/>
                </a:solidFill>
                <a:latin typeface="Segoe UI"/>
              </a:rPr>
              <a:t>Act </a:t>
            </a:r>
            <a:r>
              <a:rPr sz="1250" b="0">
                <a:solidFill>
                  <a:srgbClr val="1A1A2E"/>
                </a:solidFill>
                <a:latin typeface="Segoe UI"/>
              </a:rPr>
              <a:t>→ read the digest; follow up on what's due.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You're ready to run PACOS.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0040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FCFE0"/>
                </a:solidFill>
                <a:latin typeface="Segoe UI"/>
              </a:rPr>
              <a:t>Generate  →  review  →  send by hand  →  log  →  track.  Repeat.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9AB8"/>
                </a:solidFill>
                <a:latin typeface="Segoe UI"/>
              </a:rPr>
              <a:t>Start the servers, open localhost:5173, and click ‘Generate with Nemotron’.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52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A7A92"/>
                </a:solidFill>
                <a:latin typeface="Segoe UI"/>
              </a:rPr>
              <a:t>PACOS · Personal AI Career Operating System · human-in-the-loop, always.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