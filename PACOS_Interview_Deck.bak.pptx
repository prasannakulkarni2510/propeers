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822960" cy="82296"/>
          </a:xfrm>
          <a:prstGeom prst="rect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FFFFFF"/>
                </a:solidFill>
                <a:latin typeface="Segoe UI Semibold"/>
              </a:rPr>
              <a:t>PACOS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06324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C9D6E6"/>
                </a:solidFill>
                <a:latin typeface="Segoe UI"/>
              </a:rPr>
              <a:t>Personal AI Career Operating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794760"/>
            <a:ext cx="9509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FB0C6"/>
                </a:solidFill>
                <a:latin typeface="Segoe UI"/>
              </a:rPr>
              <a:t>A local-first pipeline that drafts job-search outreach and tracks it. The model writes; a human approves every send.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5074920"/>
            <a:ext cx="3108960" cy="15240"/>
          </a:xfrm>
          <a:prstGeom prst="rect">
            <a:avLst/>
          </a:prstGeom>
          <a:solidFill>
            <a:srgbClr val="18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2120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 Semibold"/>
              </a:rPr>
              <a:t>Prasanna Kulkarni</a:t>
            </a:r>
            <a:r>
              <a:rPr sz="1400" b="0" i="0">
                <a:solidFill>
                  <a:srgbClr val="9FB0C6"/>
                </a:solidFill>
                <a:latin typeface="Segoe UI"/>
              </a:rPr>
              <a:t>    AI Engineer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8A93A3"/>
                </a:solidFill>
                <a:latin typeface="Segoe UI"/>
              </a:rPr>
              <a:t>kulkarniprasanna25@gmail.com   ·   github.com/prasannakulkarni2510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2148840"/>
            <a:ext cx="1737360" cy="420624"/>
          </a:xfrm>
          <a:prstGeom prst="roundRect">
            <a:avLst>
              <a:gd name="adj" fmla="val 6000"/>
            </a:avLst>
          </a:prstGeom>
          <a:solidFill>
            <a:srgbClr val="18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2148840"/>
            <a:ext cx="1737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FD2E6"/>
                </a:solidFill>
                <a:latin typeface="Segoe UI"/>
              </a:rPr>
              <a:t>React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2697480"/>
            <a:ext cx="1737360" cy="420624"/>
          </a:xfrm>
          <a:prstGeom prst="roundRect">
            <a:avLst>
              <a:gd name="adj" fmla="val 6000"/>
            </a:avLst>
          </a:prstGeom>
          <a:solidFill>
            <a:srgbClr val="18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2697480"/>
            <a:ext cx="1737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FD2E6"/>
                </a:solidFill>
                <a:latin typeface="Segoe UI"/>
              </a:rPr>
              <a:t>FastAPI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3246120"/>
            <a:ext cx="1737360" cy="420624"/>
          </a:xfrm>
          <a:prstGeom prst="roundRect">
            <a:avLst>
              <a:gd name="adj" fmla="val 6000"/>
            </a:avLst>
          </a:prstGeom>
          <a:solidFill>
            <a:srgbClr val="18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0" y="3246120"/>
            <a:ext cx="1737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FD2E6"/>
                </a:solidFill>
                <a:latin typeface="Segoe UI"/>
              </a:rPr>
              <a:t>LangGraph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3794760"/>
            <a:ext cx="1737360" cy="420624"/>
          </a:xfrm>
          <a:prstGeom prst="roundRect">
            <a:avLst>
              <a:gd name="adj" fmla="val 6000"/>
            </a:avLst>
          </a:prstGeom>
          <a:solidFill>
            <a:srgbClr val="18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3794760"/>
            <a:ext cx="1737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FD2E6"/>
                </a:solidFill>
                <a:latin typeface="Segoe UI"/>
              </a:rPr>
              <a:t>SQLite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4343400"/>
            <a:ext cx="1737360" cy="420624"/>
          </a:xfrm>
          <a:prstGeom prst="roundRect">
            <a:avLst>
              <a:gd name="adj" fmla="val 6000"/>
            </a:avLst>
          </a:prstGeom>
          <a:solidFill>
            <a:srgbClr val="18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4343400"/>
            <a:ext cx="17373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BFD2E6"/>
                </a:solidFill>
                <a:latin typeface="Segoe UI"/>
              </a:rPr>
              <a:t>Nemotron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310896" cy="82296"/>
          </a:xfrm>
          <a:prstGeom prst="rect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4846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E8EC4"/>
                </a:solidFill>
                <a:latin typeface="Segoe UI Semibold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51E2E"/>
                </a:solidFill>
                <a:latin typeface="Segoe UI Semibold"/>
              </a:rPr>
              <a:t>Why I built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51E2E"/>
                </a:solidFill>
                <a:latin typeface="Segoe UI"/>
              </a:rPr>
              <a:t>A serious job search is a lot of small, repeated work. For each person I want to reach, I research them, write a tailored email, cut it down to a LinkedIn DM, draft a cover letter, note how to adjust my CV, then remember to follow up a week later.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51E2E"/>
                </a:solidFill>
                <a:latin typeface="Segoe UI"/>
              </a:rPr>
              <a:t>Doing that by hand, I kept losing the thread of who I'd contacted and where things stood.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840480"/>
            <a:ext cx="10424160" cy="155448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840480"/>
            <a:ext cx="128016" cy="1554480"/>
          </a:xfrm>
          <a:prstGeom prst="rect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069080"/>
            <a:ext cx="97840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51E2E"/>
                </a:solidFill>
                <a:latin typeface="Segoe UI Semibold"/>
              </a:rPr>
              <a:t>The line I would not cross:  </a:t>
            </a:r>
            <a:r>
              <a:rPr sz="1600" b="0" i="0">
                <a:solidFill>
                  <a:srgbClr val="5C6677"/>
                </a:solidFill>
                <a:latin typeface="Segoe UI"/>
              </a:rPr>
              <a:t>automate the drafting and the bookkeeping, but never let a model email strangers on my behalf. So the rule from day one was simple. The model drafts, I decide what actually gets sent.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8A93A3"/>
                </a:solidFill>
                <a:latin typeface="Segoe UI Semibold"/>
              </a:rPr>
              <a:t>PACOS</a:t>
            </a:r>
            <a:r>
              <a:rPr sz="950" b="0" i="0">
                <a:solidFill>
                  <a:srgbClr val="8A93A3"/>
                </a:solidFill>
                <a:latin typeface="Segoe UI"/>
              </a:rPr>
              <a:t>   Personal AI Career Operating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A3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310896" cy="82296"/>
          </a:xfrm>
          <a:prstGeom prst="rect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4846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E8EC4"/>
                </a:solidFill>
                <a:latin typeface="Segoe UI Semibold"/>
              </a:rPr>
              <a:t>WHAT IT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51E2E"/>
                </a:solidFill>
                <a:latin typeface="Segoe UI Semibold"/>
              </a:rPr>
              <a:t>Three light layers, plain files underneath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401568" cy="3200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  <a:effectLst>
            <a:outerShdw blurRad="90000" dist="38100" dir="5400000" rotWithShape="0">
              <a:srgbClr val="1B2A4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828800"/>
            <a:ext cx="3401568" cy="109728"/>
          </a:xfrm>
          <a:prstGeom prst="rect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148840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3E8EC4"/>
                </a:solidFill>
                <a:latin typeface="Segoe UI Semibol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743200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50" b="1" i="0">
                <a:solidFill>
                  <a:srgbClr val="151E2E"/>
                </a:solidFill>
                <a:latin typeface="Segoe UI Semibold"/>
              </a:rPr>
              <a:t>Asset Generator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246120"/>
            <a:ext cx="281635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C6677"/>
                </a:solidFill>
                <a:latin typeface="Segoe UI"/>
              </a:rPr>
              <a:t>One lead in, four outreach drafts out: a cold email, a short LinkedIn DM, a cover letter, and notes on how to tweak my CV for that role.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3984" y="1828800"/>
            <a:ext cx="3401568" cy="3200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  <a:effectLst>
            <a:outerShdw blurRad="90000" dist="38100" dir="5400000" rotWithShape="0">
              <a:srgbClr val="1B2A4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43984" y="1828800"/>
            <a:ext cx="3401568" cy="109728"/>
          </a:xfrm>
          <a:prstGeom prst="rect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2" y="2148840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E18A3B"/>
                </a:solidFill>
                <a:latin typeface="Segoe UI Semibold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36592" y="2743200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50" b="1" i="0">
                <a:solidFill>
                  <a:srgbClr val="151E2E"/>
                </a:solidFill>
                <a:latin typeface="Segoe UI Semibold"/>
              </a:rPr>
              <a:t>Inbox Monitor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3246120"/>
            <a:ext cx="281635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C6677"/>
                </a:solidFill>
                <a:latin typeface="Segoe UI"/>
              </a:rPr>
              <a:t>Reads Gmail for LinkedIn and Naukri job alerts and recruiter replies, and folds them into the tracker. Read-only, always. Only the gmail.readonly scope.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5008" y="1828800"/>
            <a:ext cx="3401568" cy="3200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  <a:effectLst>
            <a:outerShdw blurRad="90000" dist="38100" dir="5400000" rotWithShape="0">
              <a:srgbClr val="1B2A4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65008" y="1828800"/>
            <a:ext cx="3401568" cy="109728"/>
          </a:xfrm>
          <a:prstGeom prst="rect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2148840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3E8EC4"/>
                </a:solidFill>
                <a:latin typeface="Segoe UI Semi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743200"/>
            <a:ext cx="285292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50" b="1" i="0">
                <a:solidFill>
                  <a:srgbClr val="151E2E"/>
                </a:solidFill>
                <a:latin typeface="Segoe UI Semibold"/>
              </a:rPr>
              <a:t>Tracker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3246120"/>
            <a:ext cx="281635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C6677"/>
                </a:solidFill>
                <a:latin typeface="Segoe UI"/>
              </a:rPr>
              <a:t>One source of truth for where every lead stands. Follow-up logic, a status flow, and a daily digest that tells me who to chase today.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2578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1">
                <a:solidFill>
                  <a:srgbClr val="8A93A3"/>
                </a:solidFill>
                <a:latin typeface="Segoe UI"/>
              </a:rPr>
              <a:t>No orchestration for the storage, no separate CRM. State lives in SQLite; the CSVs you can open in Excel are exports of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8A93A3"/>
                </a:solidFill>
                <a:latin typeface="Segoe UI Semibold"/>
              </a:rPr>
              <a:t>PACOS</a:t>
            </a:r>
            <a:r>
              <a:rPr sz="950" b="0" i="0">
                <a:solidFill>
                  <a:srgbClr val="8A93A3"/>
                </a:solidFill>
                <a:latin typeface="Segoe UI"/>
              </a:rPr>
              <a:t>   Personal AI Career Operating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A3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310896" cy="82296"/>
          </a:xfrm>
          <a:prstGeom prst="rect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4846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E8EC4"/>
                </a:solidFill>
                <a:latin typeface="Segoe UI Semibold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51E2E"/>
                </a:solidFill>
                <a:latin typeface="Segoe UI Semibold"/>
              </a:rPr>
              <a:t>Two front doors, one tested 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1600200"/>
            <a:ext cx="40233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  <a:effectLst>
            <a:outerShdw blurRad="90000" dist="38100" dir="5400000" rotWithShape="0">
              <a:srgbClr val="1B2A4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44752" y="1600200"/>
            <a:ext cx="369417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1E2E"/>
                </a:solidFill>
                <a:latin typeface="Segoe UI Semibold"/>
              </a:rPr>
              <a:t>Web dashboard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C6677"/>
                </a:solidFill>
                <a:latin typeface="Segoe UI"/>
              </a:rPr>
              <a:t>React · Zustand · Vite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600200"/>
            <a:ext cx="402336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DE2E9"/>
            </a:solidFill>
          </a:ln>
          <a:effectLst/>
          <a:effectLst>
            <a:outerShdw blurRad="90000" dist="38100" dir="5400000" rotWithShape="0">
              <a:srgbClr val="1B2A4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22592" y="1600200"/>
            <a:ext cx="3694176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1E2E"/>
                </a:solidFill>
                <a:latin typeface="Segoe UI Semibold"/>
              </a:rPr>
              <a:t>Command line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C6677"/>
                </a:solidFill>
                <a:latin typeface="Segoe UI"/>
              </a:rPr>
              <a:t>pacos generate · monitor · digest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2788920"/>
            <a:ext cx="9601200" cy="777240"/>
          </a:xfrm>
          <a:prstGeom prst="roundRect">
            <a:avLst>
              <a:gd name="adj" fmla="val 6000"/>
            </a:avLst>
          </a:prstGeom>
          <a:solidFill>
            <a:srgbClr val="E9F1F7"/>
          </a:solidFill>
          <a:ln w="12700">
            <a:solidFill>
              <a:srgbClr val="DDE2E9"/>
            </a:solidFill>
          </a:ln>
          <a:effectLst/>
          <a:effectLst>
            <a:outerShdw blurRad="90000" dist="38100" dir="5400000" rotWithShape="0">
              <a:srgbClr val="1B2A4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44752" y="2788920"/>
            <a:ext cx="9272016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151E2E"/>
                </a:solidFill>
                <a:latin typeface="Segoe UI Semibold"/>
              </a:rPr>
              <a:t>FastAPI  →  shared pacos core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C6677"/>
                </a:solidFill>
                <a:latin typeface="Segoe UI"/>
              </a:rPr>
              <a:t>the same logic the CLI runs, wrapped as a REST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80160" y="3886200"/>
            <a:ext cx="4480560" cy="1051560"/>
          </a:xfrm>
          <a:prstGeom prst="roundRect">
            <a:avLst>
              <a:gd name="adj" fmla="val 6000"/>
            </a:avLst>
          </a:prstGeom>
          <a:solidFill>
            <a:srgbClr val="ECF3F8"/>
          </a:solidFill>
          <a:ln w="12700">
            <a:solidFill>
              <a:srgbClr val="DDE2E9"/>
            </a:solidFill>
          </a:ln>
          <a:effectLst/>
          <a:effectLst>
            <a:outerShdw blurRad="90000" dist="38100" dir="5400000" rotWithShape="0">
              <a:srgbClr val="1B2A4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4752" y="3886200"/>
            <a:ext cx="415137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51E2E"/>
                </a:solidFill>
                <a:latin typeface="Segoe UI Semibold"/>
              </a:rPr>
              <a:t>Generation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C6677"/>
                </a:solidFill>
                <a:latin typeface="Segoe UI"/>
              </a:rPr>
              <a:t>LangGraph multi-agent graph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3886200"/>
            <a:ext cx="2331720" cy="1051560"/>
          </a:xfrm>
          <a:prstGeom prst="roundRect">
            <a:avLst>
              <a:gd name="adj" fmla="val 6000"/>
            </a:avLst>
          </a:prstGeom>
          <a:solidFill>
            <a:srgbClr val="FBF1E4"/>
          </a:solidFill>
          <a:ln w="12700">
            <a:solidFill>
              <a:srgbClr val="DDE2E9"/>
            </a:solidFill>
          </a:ln>
          <a:effectLst/>
          <a:effectLst>
            <a:outerShdw blurRad="90000" dist="38100" dir="5400000" rotWithShape="0">
              <a:srgbClr val="1B2A4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3886200"/>
            <a:ext cx="200253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51E2E"/>
                </a:solidFill>
                <a:latin typeface="Segoe UI Semibold"/>
              </a:rPr>
              <a:t>Model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C6677"/>
                </a:solidFill>
                <a:latin typeface="Segoe UI"/>
              </a:rPr>
              <a:t>NVIDIA Nemotron
(NIM, OpenAI-compatible)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3886200"/>
            <a:ext cx="2331720" cy="1051560"/>
          </a:xfrm>
          <a:prstGeom prst="roundRect">
            <a:avLst>
              <a:gd name="adj" fmla="val 6000"/>
            </a:avLst>
          </a:prstGeom>
          <a:solidFill>
            <a:srgbClr val="ECF3F8"/>
          </a:solidFill>
          <a:ln w="12700">
            <a:solidFill>
              <a:srgbClr val="DDE2E9"/>
            </a:solidFill>
          </a:ln>
          <a:effectLst/>
          <a:effectLst>
            <a:outerShdw blurRad="90000" dist="38100" dir="5400000" rotWithShape="0">
              <a:srgbClr val="1B2A4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3886200"/>
            <a:ext cx="2002536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51E2E"/>
                </a:solidFill>
                <a:latin typeface="Segoe UI Semibold"/>
              </a:rPr>
              <a:t>State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C6677"/>
                </a:solidFill>
                <a:latin typeface="Segoe UI"/>
              </a:rPr>
              <a:t>SQLite source of truth
CSV = 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25780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 Semibold"/>
              </a:rPr>
              <a:t>The model is one env var.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Because the endpoint is OpenAI-compatible, swapping Nemotron for another model, or pointing at a self-hosted NIM container, is a config change with no code edits.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8A93A3"/>
                </a:solidFill>
                <a:latin typeface="Segoe UI Semibold"/>
              </a:rPr>
              <a:t>PACOS</a:t>
            </a:r>
            <a:r>
              <a:rPr sz="950" b="0" i="0">
                <a:solidFill>
                  <a:srgbClr val="8A93A3"/>
                </a:solidFill>
                <a:latin typeface="Segoe UI"/>
              </a:rPr>
              <a:t>   Personal AI Career Operating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A3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310896" cy="82296"/>
          </a:xfrm>
          <a:prstGeom prst="rect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4846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E8EC4"/>
                </a:solidFill>
                <a:latin typeface="Segoe UI Semibold"/>
              </a:rPr>
              <a:t>THE GENERATION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51E2E"/>
                </a:solidFill>
                <a:latin typeface="Segoe UI Semibold"/>
              </a:rPr>
              <a:t>Per lead it is a small graph, not one call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5C6677"/>
                </a:solidFill>
                <a:latin typeface="Segoe UI"/>
              </a:rPr>
              <a:t>A supervisor runs the agents for a lead and assembles the result. Roughly five model calls each.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2651760" cy="1371600"/>
          </a:xfrm>
          <a:prstGeom prst="roundRect">
            <a:avLst>
              <a:gd name="adj" fmla="val 6000"/>
            </a:avLst>
          </a:prstGeom>
          <a:solidFill>
            <a:srgbClr val="182A4A"/>
          </a:solidFill>
          <a:ln>
            <a:noFill/>
          </a:ln>
          <a:effectLst/>
          <a:effectLst>
            <a:outerShdw blurRad="90000" dist="38100" dir="5400000" rotWithShape="0">
              <a:srgbClr val="1B2A4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51460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 Semibold"/>
              </a:rPr>
              <a:t>Personalization agent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BFD2E6"/>
                </a:solidFill>
                <a:latin typeface="Segoe UI"/>
              </a:rPr>
              <a:t>Produces one shared hook: the sharpest sentence tying me to this person or company, plus a read on the domain.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611880" y="2834640"/>
            <a:ext cx="502920" cy="365760"/>
          </a:xfrm>
          <a:prstGeom prst="rightArrow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97680" y="2011680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2011680"/>
            <a:ext cx="2148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Consolas"/>
              </a:rPr>
              <a:t>cold_email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11112" y="2011680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11112" y="2011680"/>
            <a:ext cx="2148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Consolas"/>
              </a:rPr>
              <a:t>cold_dm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2999232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97680" y="2999232"/>
            <a:ext cx="2148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Consolas"/>
              </a:rPr>
              <a:t>cover_letter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11112" y="2999232"/>
            <a:ext cx="2148840" cy="82296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11112" y="2999232"/>
            <a:ext cx="21488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Consolas"/>
              </a:rPr>
              <a:t>cv_notes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1627632"/>
            <a:ext cx="4480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3E8EC4"/>
                </a:solidFill>
                <a:latin typeface="Segoe UI Semibold"/>
              </a:rPr>
              <a:t>four asset agents  ·  run in parallel off the shared hook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052560" y="2834640"/>
            <a:ext cx="457200" cy="365760"/>
          </a:xfrm>
          <a:prstGeom prst="rightArrow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46920" y="2331720"/>
            <a:ext cx="1737360" cy="1371600"/>
          </a:xfrm>
          <a:prstGeom prst="roundRect">
            <a:avLst>
              <a:gd name="adj" fmla="val 6000"/>
            </a:avLst>
          </a:prstGeom>
          <a:solidFill>
            <a:srgbClr val="182A4A"/>
          </a:solidFill>
          <a:ln>
            <a:noFill/>
          </a:ln>
          <a:effectLst/>
          <a:effectLst>
            <a:outerShdw blurRad="90000" dist="38100" dir="5400000" rotWithShape="0">
              <a:srgbClr val="1B2A4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2560320"/>
            <a:ext cx="14630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FFFFFF"/>
                </a:solidFill>
                <a:latin typeface="Segoe UI Semibold"/>
              </a:rPr>
              <a:t>Assembled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BFD2E6"/>
                </a:solidFill>
                <a:latin typeface="Segoe UI"/>
              </a:rPr>
              <a:t>four drafts on one angle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407408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34340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 Semibold"/>
              </a:rPr>
              <a:t>Shared hook: 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keeps all four drafts coherent instead of four separate takes.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407408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343400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 Semibold"/>
              </a:rPr>
              <a:t>Conditional edge: 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skips the email agent when a lead has no address.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506577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001768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 Semibold"/>
              </a:rPr>
              <a:t>Streaming status: 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LangGraph streaming drives a real per-agent board in the UI.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506577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5001768"/>
            <a:ext cx="4937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 Semibold"/>
              </a:rPr>
              <a:t>Checkpoint / resume: 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a large batch that fails partway resumes without re-spending tokens.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8A93A3"/>
                </a:solidFill>
                <a:latin typeface="Segoe UI Semibold"/>
              </a:rPr>
              <a:t>PACOS</a:t>
            </a:r>
            <a:r>
              <a:rPr sz="950" b="0" i="0">
                <a:solidFill>
                  <a:srgbClr val="8A93A3"/>
                </a:solidFill>
                <a:latin typeface="Segoe UI"/>
              </a:rPr>
              <a:t>   Personal AI Career Operating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A3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310896" cy="82296"/>
          </a:xfrm>
          <a:prstGeom prst="rect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4846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E8EC4"/>
                </a:solidFill>
                <a:latin typeface="Segoe UI Semibold"/>
              </a:rPr>
              <a:t>ENGINEERING JUDGMENT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51E2E"/>
                </a:solidFill>
                <a:latin typeface="Segoe UI Semibold"/>
              </a:rPr>
              <a:t>A decision I reversed, on purpose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5074920" cy="338328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874519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1">
                <a:solidFill>
                  <a:srgbClr val="5C6677"/>
                </a:solidFill>
                <a:latin typeface="Segoe UI Semibold"/>
              </a:rPr>
              <a:t>My first design doc said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45720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51E2E"/>
                </a:solidFill>
                <a:latin typeface="Segoe UI"/>
              </a:rPr>
              <a:t>One model call per lead. Four files out. No orchestration framework at all.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1">
                <a:solidFill>
                  <a:srgbClr val="5C6677"/>
                </a:solidFill>
                <a:latin typeface="Segoe UI"/>
              </a:rPr>
              <a:t>Simpler. Cheaper. Fewer dependencies.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074920" cy="3383280"/>
          </a:xfrm>
          <a:prstGeom prst="roundRect">
            <a:avLst>
              <a:gd name="adj" fmla="val 6000"/>
            </a:avLst>
          </a:prstGeom>
          <a:solidFill>
            <a:srgbClr val="101D36"/>
          </a:solidFill>
          <a:ln>
            <a:noFill/>
          </a:ln>
          <a:effectLst/>
          <a:effectLst>
            <a:outerShdw blurRad="90000" dist="38100" dir="5400000" rotWithShape="0">
              <a:srgbClr val="1B2A4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1">
                <a:solidFill>
                  <a:srgbClr val="E18A3B"/>
                </a:solidFill>
                <a:latin typeface="Segoe UI Semibold"/>
              </a:rPr>
              <a:t>What I shipped instead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86000"/>
            <a:ext cx="457200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0" i="0">
                <a:solidFill>
                  <a:srgbClr val="D5DFEC"/>
                </a:solidFill>
                <a:latin typeface="Segoe UI"/>
              </a:rPr>
              <a:t>A LangGraph graph, about 5x the calls per lead and one real dependency. I took that cost for: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coherent drafts from the shared hook,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a status board that reflects real per-agent progress,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checkpoint and resume on a failed batch,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FFFFFF"/>
                </a:solidFill>
                <a:latin typeface="Segoe UI"/>
              </a:rPr>
              <a:t>and first-class human-in-the-loop interrupts.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349240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51E2E"/>
                </a:solidFill>
                <a:latin typeface="Segoe UI Semibold"/>
              </a:rPr>
              <a:t>I keep architecture decision records, </a:t>
            </a:r>
            <a:r>
              <a:rPr sz="1400" b="0" i="0">
                <a:solidFill>
                  <a:srgbClr val="5C6677"/>
                </a:solidFill>
                <a:latin typeface="Segoe UI"/>
              </a:rPr>
              <a:t>including this reversal, so the trade-off is written down and I can explain why the extra calls earn their keep.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8A93A3"/>
                </a:solidFill>
                <a:latin typeface="Segoe UI Semibold"/>
              </a:rPr>
              <a:t>PACOS</a:t>
            </a:r>
            <a:r>
              <a:rPr sz="950" b="0" i="0">
                <a:solidFill>
                  <a:srgbClr val="8A93A3"/>
                </a:solidFill>
                <a:latin typeface="Segoe UI"/>
              </a:rPr>
              <a:t>   Personal AI Career Operating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A3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310896" cy="82296"/>
          </a:xfrm>
          <a:prstGeom prst="rect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4846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E8EC4"/>
                </a:solidFill>
                <a:latin typeface="Segoe UI Semibold"/>
              </a:rPr>
              <a:t>CONSTRAINTS BY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51E2E"/>
                </a:solidFill>
                <a:latin typeface="Segoe UI Semibold"/>
              </a:rPr>
              <a:t>The guardrails came first, not last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42416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128016" cy="914400"/>
          </a:xfrm>
          <a:prstGeom prst="rect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783080"/>
            <a:ext cx="35661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51E2E"/>
                </a:solidFill>
                <a:latin typeface="Segoe UI Semibold"/>
              </a:rPr>
              <a:t>Never auto-sends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783080"/>
            <a:ext cx="6309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C6677"/>
                </a:solidFill>
                <a:latin typeface="Segoe UI"/>
              </a:rPr>
              <a:t>Every draft is copy-pasted by me after I read it. There is no send path in the code at all.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843784"/>
            <a:ext cx="1042416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843784"/>
            <a:ext cx="128016" cy="914400"/>
          </a:xfrm>
          <a:prstGeom prst="rect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2843784"/>
            <a:ext cx="35661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51E2E"/>
                </a:solidFill>
                <a:latin typeface="Segoe UI Semibold"/>
              </a:rPr>
              <a:t>Inbox is strictly read-only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843784"/>
            <a:ext cx="6309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C6677"/>
                </a:solidFill>
                <a:latin typeface="Segoe UI"/>
              </a:rPr>
              <a:t>The monitor requests only gmail.readonly. It never sends, labels, deletes, or modifies mail.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04488"/>
            <a:ext cx="1042416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3904488"/>
            <a:ext cx="128016" cy="914400"/>
          </a:xfrm>
          <a:prstGeom prst="rect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904488"/>
            <a:ext cx="35661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51E2E"/>
                </a:solidFill>
                <a:latin typeface="Segoe UI Semibold"/>
              </a:rPr>
              <a:t>The model proposes, it never writes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904488"/>
            <a:ext cx="6309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C6677"/>
                </a:solidFill>
                <a:latin typeface="Segoe UI"/>
              </a:rPr>
              <a:t>The JD parser and chat assistant turn my pasted text into a lead proposal. Nothing lands in the tracker until I confirm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965192"/>
            <a:ext cx="1042416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" y="4965192"/>
            <a:ext cx="128016" cy="914400"/>
          </a:xfrm>
          <a:prstGeom prst="rect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965192"/>
            <a:ext cx="35661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151E2E"/>
                </a:solidFill>
                <a:latin typeface="Segoe UI Semibold"/>
              </a:rPr>
              <a:t>Recruiter discovery is deterministic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965192"/>
            <a:ext cx="63093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5C6677"/>
                </a:solidFill>
                <a:latin typeface="Segoe UI"/>
              </a:rPr>
              <a:t>Boolean people-searches with LinkedIn and Google X-Ray links, built from what PACOS already knows. No scraping, no model call.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8A93A3"/>
                </a:solidFill>
                <a:latin typeface="Segoe UI Semibold"/>
              </a:rPr>
              <a:t>PACOS</a:t>
            </a:r>
            <a:r>
              <a:rPr sz="950" b="0" i="0">
                <a:solidFill>
                  <a:srgbClr val="8A93A3"/>
                </a:solidFill>
                <a:latin typeface="Segoe UI"/>
              </a:rPr>
              <a:t>   Personal AI Career Operating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A3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310896" cy="82296"/>
          </a:xfrm>
          <a:prstGeom prst="rect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4846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E8EC4"/>
                </a:solidFill>
                <a:latin typeface="Segoe UI Semibold"/>
              </a:rPr>
              <a:t>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51E2E"/>
                </a:solidFill>
                <a:latin typeface="Segoe UI Semibold"/>
              </a:rPr>
              <a:t>One tracker, a status flow, a daily digest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312163" cy="502920"/>
          </a:xfrm>
          <a:prstGeom prst="roundRect">
            <a:avLst>
              <a:gd name="adj" fmla="val 6000"/>
            </a:avLst>
          </a:prstGeom>
          <a:solidFill>
            <a:srgbClr val="E9F1F7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31216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51E2E"/>
                </a:solidFill>
                <a:latin typeface="Consolas"/>
              </a:rPr>
              <a:t>pending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189987" y="1984248"/>
            <a:ext cx="310896" cy="201168"/>
          </a:xfrm>
          <a:prstGeom prst="rightArrow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592323" y="1828800"/>
            <a:ext cx="914400" cy="502920"/>
          </a:xfrm>
          <a:prstGeom prst="roundRect">
            <a:avLst>
              <a:gd name="adj" fmla="val 6000"/>
            </a:avLst>
          </a:prstGeom>
          <a:solidFill>
            <a:srgbClr val="E9F1F7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92323" y="1828800"/>
            <a:ext cx="914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51E2E"/>
                </a:solidFill>
                <a:latin typeface="Consolas"/>
              </a:rPr>
              <a:t>sent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561587" y="1984248"/>
            <a:ext cx="310896" cy="201168"/>
          </a:xfrm>
          <a:prstGeom prst="rightArrow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963923" y="1828800"/>
            <a:ext cx="1312163" cy="502920"/>
          </a:xfrm>
          <a:prstGeom prst="roundRect">
            <a:avLst>
              <a:gd name="adj" fmla="val 6000"/>
            </a:avLst>
          </a:prstGeom>
          <a:solidFill>
            <a:srgbClr val="E9F1F7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63923" y="1828800"/>
            <a:ext cx="131216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51E2E"/>
                </a:solidFill>
                <a:latin typeface="Consolas"/>
              </a:rPr>
              <a:t>replied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330950" y="1984248"/>
            <a:ext cx="310896" cy="201168"/>
          </a:xfrm>
          <a:prstGeom prst="rightArrow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733286" y="1828800"/>
            <a:ext cx="1709928" cy="502920"/>
          </a:xfrm>
          <a:prstGeom prst="roundRect">
            <a:avLst>
              <a:gd name="adj" fmla="val 6000"/>
            </a:avLst>
          </a:prstGeom>
          <a:solidFill>
            <a:srgbClr val="E9F1F7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33286" y="1828800"/>
            <a:ext cx="170992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51E2E"/>
                </a:solidFill>
                <a:latin typeface="Consolas"/>
              </a:rPr>
              <a:t>interested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98078" y="1984248"/>
            <a:ext cx="310896" cy="201168"/>
          </a:xfrm>
          <a:prstGeom prst="rightArrow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00414" y="1828800"/>
            <a:ext cx="1577339" cy="502920"/>
          </a:xfrm>
          <a:prstGeom prst="roundRect">
            <a:avLst>
              <a:gd name="adj" fmla="val 6000"/>
            </a:avLst>
          </a:prstGeom>
          <a:solidFill>
            <a:srgbClr val="E9F1F7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0414" y="1828800"/>
            <a:ext cx="157733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51E2E"/>
                </a:solidFill>
                <a:latin typeface="Consolas"/>
              </a:rPr>
              <a:t>interview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532617" y="1984248"/>
            <a:ext cx="310896" cy="201168"/>
          </a:xfrm>
          <a:prstGeom prst="rightArrow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934953" y="1828800"/>
            <a:ext cx="1046988" cy="502920"/>
          </a:xfrm>
          <a:prstGeom prst="roundRect">
            <a:avLst>
              <a:gd name="adj" fmla="val 6000"/>
            </a:avLst>
          </a:prstGeom>
          <a:solidFill>
            <a:srgbClr val="E9F1F7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34953" y="1828800"/>
            <a:ext cx="104698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151E2E"/>
                </a:solidFill>
                <a:latin typeface="Consolas"/>
              </a:rPr>
              <a:t>offer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32520" y="2606040"/>
            <a:ext cx="1371600" cy="457200"/>
          </a:xfrm>
          <a:prstGeom prst="roundRect">
            <a:avLst>
              <a:gd name="adj" fmla="val 6000"/>
            </a:avLst>
          </a:prstGeom>
          <a:solidFill>
            <a:srgbClr val="F6E7E7"/>
          </a:solidFill>
          <a:ln w="12700">
            <a:solidFill>
              <a:srgbClr val="E0C4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32520" y="2606040"/>
            <a:ext cx="1371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9A3B3B"/>
                </a:solidFill>
                <a:latin typeface="Consolas"/>
              </a:rPr>
              <a:t>rejected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265176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1">
                <a:solidFill>
                  <a:srgbClr val="8A93A3"/>
                </a:solidFill>
                <a:latin typeface="Segoe UI"/>
              </a:rPr>
              <a:t>any stage  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566160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374903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51E2E"/>
                </a:solidFill>
                <a:latin typeface="Segoe UI Semibold"/>
              </a:rPr>
              <a:t>The digest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97280" y="4274820"/>
            <a:ext cx="100584" cy="100584"/>
          </a:xfrm>
          <a:prstGeom prst="roundRect">
            <a:avLst>
              <a:gd name="adj" fmla="val 6000"/>
            </a:avLst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8176" y="4206240"/>
            <a:ext cx="43525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"/>
              </a:rPr>
              <a:t>Today's action list. 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who replied, who is due for a follow-up.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97280" y="495147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08176" y="4882896"/>
            <a:ext cx="43525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"/>
              </a:rPr>
              <a:t>Follow-up logic is built in 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so a lead I sent to a week ago resurfaces on its own.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44768" y="3566160"/>
            <a:ext cx="5120640" cy="214884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4903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51E2E"/>
                </a:solidFill>
                <a:latin typeface="Segoe UI Semibold"/>
              </a:rPr>
              <a:t>Source of truth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19088" y="4274820"/>
            <a:ext cx="100584" cy="100584"/>
          </a:xfrm>
          <a:prstGeom prst="roundRect">
            <a:avLst>
              <a:gd name="adj" fmla="val 6000"/>
            </a:avLst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9984" y="4206240"/>
            <a:ext cx="43525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"/>
              </a:rPr>
              <a:t>SQLite holds the real state. 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every lead, every status change.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19088" y="495147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29984" y="4882896"/>
            <a:ext cx="43525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"/>
              </a:rPr>
              <a:t>tracker.csv is an export 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not the database. Handy to open, never authoritative.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8A93A3"/>
                </a:solidFill>
                <a:latin typeface="Segoe UI Semibold"/>
              </a:rPr>
              <a:t>PACOS</a:t>
            </a:r>
            <a:r>
              <a:rPr sz="950" b="0" i="0">
                <a:solidFill>
                  <a:srgbClr val="8A93A3"/>
                </a:solidFill>
                <a:latin typeface="Segoe UI"/>
              </a:rPr>
              <a:t>   Personal AI Career Operating System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A3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310896" cy="82296"/>
          </a:xfrm>
          <a:prstGeom prst="rect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4846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E8EC4"/>
                </a:solidFill>
                <a:latin typeface="Segoe UI Semibold"/>
              </a:rPr>
              <a:t>HOW IT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51E2E"/>
                </a:solidFill>
                <a:latin typeface="Segoe UI Semibold"/>
              </a:rPr>
              <a:t>Same core, two ways to run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37360"/>
            <a:ext cx="5074920" cy="356616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  <a:effectLst>
            <a:outerShdw blurRad="90000" dist="38100" dir="5400000" rotWithShape="0">
              <a:srgbClr val="1B2A4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5074920" cy="128016"/>
          </a:xfrm>
          <a:prstGeom prst="rect">
            <a:avLst/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0574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151E2E"/>
                </a:solidFill>
                <a:latin typeface="Segoe UI Semibold"/>
              </a:rPr>
              <a:t>Local-first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2766060"/>
            <a:ext cx="100584" cy="100584"/>
          </a:xfrm>
          <a:prstGeom prst="roundRect">
            <a:avLst>
              <a:gd name="adj" fmla="val 6000"/>
            </a:avLst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53896" y="2697480"/>
            <a:ext cx="43068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"/>
              </a:rPr>
              <a:t>Runs from one folder. 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one operator, one workspace, all state on disk.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71703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53896" y="3648456"/>
            <a:ext cx="43068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"/>
              </a:rPr>
              <a:t>Packaged as a single frozen exe 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with PyInstaller. No install, no server to stand 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668012"/>
            <a:ext cx="100584" cy="100584"/>
          </a:xfrm>
          <a:prstGeom prst="roundRect">
            <a:avLst>
              <a:gd name="adj" fmla="val 6000"/>
            </a:avLst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53896" y="4599432"/>
            <a:ext cx="430682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"/>
              </a:rPr>
              <a:t>SQLite locally. 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the whole thing works with no network except the model call.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44768" y="1737360"/>
            <a:ext cx="5120640" cy="3566160"/>
          </a:xfrm>
          <a:prstGeom prst="roundRect">
            <a:avLst>
              <a:gd name="adj" fmla="val 6000"/>
            </a:avLst>
          </a:prstGeom>
          <a:solidFill>
            <a:srgbClr val="101D36"/>
          </a:solidFill>
          <a:ln>
            <a:noFill/>
          </a:ln>
          <a:effectLst/>
          <a:effectLst>
            <a:outerShdw blurRad="90000" dist="38100" dir="5400000" rotWithShape="0">
              <a:srgbClr val="1B2A44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4768" y="1737360"/>
            <a:ext cx="5120640" cy="128016"/>
          </a:xfrm>
          <a:prstGeom prst="rect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205740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Segoe UI Semibold"/>
              </a:rPr>
              <a:t>Cloud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2766060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2697480"/>
            <a:ext cx="4343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Segoe UI Semibold"/>
              </a:rPr>
              <a:t>A private, token-gated web app. </a:t>
            </a:r>
            <a:r>
              <a:rPr sz="1350" b="0" i="0">
                <a:solidFill>
                  <a:srgbClr val="BFD2E6"/>
                </a:solidFill>
                <a:latin typeface="Segoe UI"/>
              </a:rPr>
              <a:t>one Docker service on Render.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3515868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3447288"/>
            <a:ext cx="4343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Segoe UI Semibold"/>
              </a:rPr>
              <a:t>Postgres on Neon in the cloud; </a:t>
            </a:r>
            <a:r>
              <a:rPr sz="1350" b="0" i="0">
                <a:solidFill>
                  <a:srgbClr val="BFD2E6"/>
                </a:solidFill>
                <a:latin typeface="Segoe UI"/>
              </a:rPr>
              <a:t>local stays SQLite.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426567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4197096"/>
            <a:ext cx="4343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Segoe UI Semibold"/>
              </a:rPr>
              <a:t>Deployment is a config choice, </a:t>
            </a:r>
            <a:r>
              <a:rPr sz="1350" b="0" i="0">
                <a:solidFill>
                  <a:srgbClr val="BFD2E6"/>
                </a:solidFill>
                <a:latin typeface="Segoe UI"/>
              </a:rPr>
              <a:t>not a rewrite. Same tested core underneath.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8A93A3"/>
                </a:solidFill>
                <a:latin typeface="Segoe UI Semibold"/>
              </a:rPr>
              <a:t>PACOS</a:t>
            </a:r>
            <a:r>
              <a:rPr sz="950" b="0" i="0">
                <a:solidFill>
                  <a:srgbClr val="8A93A3"/>
                </a:solidFill>
                <a:latin typeface="Segoe UI"/>
              </a:rPr>
              <a:t>   Personal AI Career Operating System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A3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85216"/>
            <a:ext cx="310896" cy="82296"/>
          </a:xfrm>
          <a:prstGeom prst="rect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43584" y="484632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E8EC4"/>
                </a:solidFill>
                <a:latin typeface="Segoe UI Semibold"/>
              </a:rPr>
              <a:t>HONEST LIMITS AND 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51E2E"/>
                </a:solidFill>
                <a:latin typeface="Segoe UI Semibold"/>
              </a:rPr>
              <a:t>Where it stops, and where I'd take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5120640" cy="329184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151E2E"/>
                </a:solidFill>
                <a:latin typeface="Segoe UI Semibold"/>
              </a:rPr>
              <a:t>What it is not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583180"/>
            <a:ext cx="100584" cy="100584"/>
          </a:xfrm>
          <a:prstGeom prst="roundRect">
            <a:avLst>
              <a:gd name="adj" fmla="val 6000"/>
            </a:avLst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8176" y="2514600"/>
            <a:ext cx="43525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"/>
              </a:rPr>
              <a:t>Single-user by design. 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multi-tenant would need real auth and per-user isolation.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53415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08176" y="3465576"/>
            <a:ext cx="43525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"/>
              </a:rPr>
              <a:t>Only as sharp as the lead data. 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thin inputs give generic drafts.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210812"/>
            <a:ext cx="100584" cy="100584"/>
          </a:xfrm>
          <a:prstGeom prst="roundRect">
            <a:avLst>
              <a:gd name="adj" fmla="val 6000"/>
            </a:avLst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8176" y="4142232"/>
            <a:ext cx="43525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"/>
              </a:rPr>
              <a:t>No sending, ever. 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that is a feature, but it does mean I stay in the loop.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44768" y="1783080"/>
            <a:ext cx="5120640" cy="329184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DDE2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201168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50" b="1" i="0">
                <a:solidFill>
                  <a:srgbClr val="151E2E"/>
                </a:solidFill>
                <a:latin typeface="Segoe UI Semibold"/>
              </a:rPr>
              <a:t>What I'd build next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19088" y="2583180"/>
            <a:ext cx="100584" cy="100584"/>
          </a:xfrm>
          <a:prstGeom prst="roundRect">
            <a:avLst>
              <a:gd name="adj" fmla="val 6000"/>
            </a:avLst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9984" y="2514600"/>
            <a:ext cx="43525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"/>
              </a:rPr>
              <a:t>Richer reply classification 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so recruiter intent sorts itself more reliably.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19088" y="3534156"/>
            <a:ext cx="100584" cy="100584"/>
          </a:xfrm>
          <a:prstGeom prst="roundRect">
            <a:avLst>
              <a:gd name="adj" fmla="val 6000"/>
            </a:avLst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9984" y="3465576"/>
            <a:ext cx="43525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"/>
              </a:rPr>
              <a:t>A feedback loop 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from what got a response back into how the drafts are written.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19088" y="4485132"/>
            <a:ext cx="100584" cy="100584"/>
          </a:xfrm>
          <a:prstGeom prst="roundRect">
            <a:avLst>
              <a:gd name="adj" fmla="val 6000"/>
            </a:avLst>
          </a:prstGeom>
          <a:solidFill>
            <a:srgbClr val="3E8E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9984" y="4416552"/>
            <a:ext cx="43525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51E2E"/>
                </a:solidFill>
                <a:latin typeface="Segoe UI"/>
              </a:rPr>
              <a:t>Lead enrichment  </a:t>
            </a:r>
            <a:r>
              <a:rPr sz="1350" b="0" i="0">
                <a:solidFill>
                  <a:srgbClr val="5C6677"/>
                </a:solidFill>
                <a:latin typeface="Segoe UI"/>
              </a:rPr>
              <a:t>to fill thin rows before generation runs.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8A93A3"/>
                </a:solidFill>
                <a:latin typeface="Segoe UI Semibold"/>
              </a:rPr>
              <a:t>PACOS</a:t>
            </a:r>
            <a:r>
              <a:rPr sz="950" b="0" i="0">
                <a:solidFill>
                  <a:srgbClr val="8A93A3"/>
                </a:solidFill>
                <a:latin typeface="Segoe UI"/>
              </a:rPr>
              <a:t>   Personal AI Career Operating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11535" y="64008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8A93A3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822960" cy="82296"/>
          </a:xfrm>
          <a:prstGeom prst="rect">
            <a:avLst/>
          </a:prstGeom>
          <a:solidFill>
            <a:srgbClr val="E18A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Segoe UI Semibold"/>
              </a:rPr>
              <a:t>Thanks. Happy to go deeper.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91840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A9BAD0"/>
                </a:solidFill>
                <a:latin typeface="Segoe UI"/>
              </a:rPr>
              <a:t>The graph internals, the human-in-the-loop constraints, or the local-to-cloud path. Pick a thread and I'll walk you through the code.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4480560"/>
            <a:ext cx="3108960" cy="15240"/>
          </a:xfrm>
          <a:prstGeom prst="rect">
            <a:avLst/>
          </a:prstGeom>
          <a:solidFill>
            <a:srgbClr val="18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466344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700" b="1" i="0">
                <a:solidFill>
                  <a:srgbClr val="FFFFFF"/>
                </a:solidFill>
                <a:latin typeface="Segoe UI Semibold"/>
              </a:rPr>
              <a:t>Prasanna Kulkarni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9FB0C6"/>
                </a:solidFill>
                <a:latin typeface="Segoe UI"/>
              </a:rPr>
              <a:t>kulkarniprasanna25@gmail.com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8A93A3"/>
                </a:solidFill>
                <a:latin typeface="Segoe UI"/>
              </a:rPr>
              <a:t>github.com/prasannakulkarni2510   ·   linkedin.com/in/prasanna-kulkarni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