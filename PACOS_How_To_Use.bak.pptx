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72" r:id="rId23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FFFFFF"/>
                </a:solidFill>
                <a:latin typeface="Segoe UI"/>
              </a:rPr>
              <a:t>PAC</a:t>
            </a:r>
            <a:r>
              <a:rPr sz="7200" b="1">
                <a:solidFill>
                  <a:srgbClr val="E84A2F"/>
                </a:solidFill>
                <a:latin typeface="Segoe UI"/>
              </a:rPr>
              <a:t>OS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063240"/>
            <a:ext cx="2926080" cy="635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2918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0">
                <a:solidFill>
                  <a:srgbClr val="CFCFE0"/>
                </a:solidFill>
                <a:latin typeface="Segoe UI"/>
              </a:rPr>
              <a:t>Personal AI Career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A9AB8"/>
                </a:solidFill>
                <a:latin typeface="Segoe UI"/>
              </a:rPr>
              <a:t>A hands-on guide: what it is, how the pieces fit, and how to drive it day to 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60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A92"/>
                </a:solidFill>
                <a:latin typeface="Segoe UI"/>
              </a:rPr>
              <a:t>Multi-agent (LangGraph)  ·  Nemotron  ·  SQLite  ·  React + FastAPI  ·  human-in-the-loop  ·  one-click exe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START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What PACOS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1A1A2E"/>
                </a:solidFill>
                <a:latin typeface="Segoe UI"/>
              </a:rPr>
              <a:t>PACOS turns a manual job search into a small, local pipeline. It generates personalised outreach for each lead, captures new leads from a pasted JD or a chat message, watches your Gmail for recruiter signals, and keeps one live tracker so nothing slips.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68880"/>
            <a:ext cx="11064240" cy="822960"/>
          </a:xfrm>
          <a:prstGeom prst="roundRect">
            <a:avLst>
              <a:gd name="adj" fmla="val 8000"/>
            </a:avLst>
          </a:prstGeom>
          <a:solidFill>
            <a:srgbClr val="FFF5F2"/>
          </a:solidFill>
          <a:ln w="12700">
            <a:solidFill>
              <a:srgbClr val="F3CF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106070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⚑  The golden rules: PACOS never sends anything — you review, copy, and send yourself. The inbox monitor is strictly read-only. And nothing model-proposed is ever saved without your confirmation — the JD parser and chat only propose leads; you approve each 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Generate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One personalisation agent + four asset agents write a cold email, DM, cover letter, and CV notes per lead — all on the same hook.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Listen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A read-only Gmail monitor parses job alerts and matches recruiter replies to the right lead by exact email.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566160"/>
            <a:ext cx="3566160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3566160"/>
            <a:ext cx="3566160" cy="128016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5320" y="3840480"/>
            <a:ext cx="31089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1A1A2E"/>
                </a:solidFill>
                <a:latin typeface="Segoe UI"/>
              </a:rPr>
              <a:t>Track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Segoe UI"/>
              </a:rPr>
              <a:t/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One SQLite store holds every lead's status, follow-ups, and replies. A daily digest tells you what to do next.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THE BIG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the System Fits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Three layers, all local. A React dashboard (or the CLI) drives a FastAPI backend, which runs the pipeline and reads/writes one SQLite file.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5B5BE6"/>
          </a:solidFill>
          <a:ln w="12700">
            <a:solidFill>
              <a:srgbClr val="5B5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965960"/>
            <a:ext cx="5175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React Dashboard (browser)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served by the backend — or just PACOS.exe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65960"/>
            <a:ext cx="5394960" cy="6400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965960"/>
            <a:ext cx="517550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Command line (pacos …)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Segoe UI"/>
              </a:rPr>
              <a:t>same actions, no browser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697480"/>
            <a:ext cx="54864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017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B6B7B"/>
                </a:solidFill>
                <a:latin typeface="Segoe UI"/>
              </a:rPr>
              <a:t>▼   HTTP / function calls   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3063240"/>
            <a:ext cx="7406640" cy="594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87168" y="3063240"/>
            <a:ext cx="7187184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FastAPI backend  +  Service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wraps the tested core; never sends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703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6B6B7B"/>
                </a:solidFill>
                <a:latin typeface="Segoe U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069080"/>
            <a:ext cx="128016" cy="13716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1 — Generator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LangGraph multi-agent graph. Nemotron writes the 4 assets per lead.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4069080"/>
            <a:ext cx="128016" cy="1371600"/>
          </a:xfrm>
          <a:prstGeom prst="rect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2 — Inbox Monitor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Read-only Gmail. Exact-match replies; unmatched go to a queue.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4069080"/>
            <a:ext cx="35661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4069080"/>
            <a:ext cx="128016" cy="1371600"/>
          </a:xfrm>
          <a:prstGeom prst="rect">
            <a:avLst/>
          </a:prstGeom>
          <a:solidFill>
            <a:srgbClr val="1F9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206240"/>
            <a:ext cx="3108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Layer 3 — Tracker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SQLite (pacos.db) = source of truth. Status, follow-ups, digest.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23560"/>
            <a:ext cx="10844784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A1A2E"/>
                </a:solidFill>
                <a:latin typeface="Segoe UI"/>
              </a:rPr>
              <a:t>pacos.db  —  one local SQLite file (leads · tracker · agent status · unmatched replies · checkpoints)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LAYER 1 IN DETAIL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Generation Pipeline (per lead)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For each lead, a supervisor runs one Personalization agent, then fans out to four asset agents in parallel — all sharing the same hook so the outreach reads coherently.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4884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 w="12700">
            <a:solidFill>
              <a:srgbClr val="1A1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48840"/>
            <a:ext cx="252374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Personalization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1 Nemotron call →
the shared hook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429000" y="2514600"/>
            <a:ext cx="64008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87451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187451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Cold Email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5–7 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87451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87451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Cold DM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3–4 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92607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292607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Cover Letter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150–200 wd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926079"/>
            <a:ext cx="1783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84A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2926079"/>
            <a:ext cx="156362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CV Notes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5–8 bullets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458200" y="2514600"/>
            <a:ext cx="54864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2057400"/>
            <a:ext cx="2468880" cy="10972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3728" y="2057400"/>
            <a:ext cx="2249424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output/{Company}_{First}/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4 ready-to-send
.txt files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703320"/>
            <a:ext cx="109728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Shared hook: </a:t>
            </a:r>
            <a:r>
              <a:rPr sz="1350" b="0">
                <a:solidFill>
                  <a:srgbClr val="1A1A2E"/>
                </a:solidFill>
                <a:latin typeface="Segoe UI"/>
              </a:rPr>
              <a:t>the Personalization agent finds one specific angle; every asset opens on it, so they feel written by one person.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Conditional skip: </a:t>
            </a:r>
            <a:r>
              <a:rPr sz="1350" b="0">
                <a:solidFill>
                  <a:srgbClr val="1A1A2E"/>
                </a:solidFill>
                <a:latin typeface="Segoe UI"/>
              </a:rPr>
              <a:t>if a lead has no email, the cold-email agent is skipped automatically (the file notes it).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Review hooks (optional): </a:t>
            </a:r>
            <a:r>
              <a:rPr sz="1350" b="0">
                <a:solidFill>
                  <a:srgbClr val="1A1A2E"/>
                </a:solidFill>
                <a:latin typeface="Segoe UI"/>
              </a:rPr>
              <a:t>turn on the toggle to approve or edit each hook before the 4 asset agents spend tokens.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Live status: </a:t>
            </a:r>
            <a:r>
              <a:rPr sz="1350" b="0">
                <a:solidFill>
                  <a:srgbClr val="1A1A2E"/>
                </a:solidFill>
                <a:latin typeface="Segoe UI"/>
              </a:rPr>
              <a:t>each agent reports running → done to the store, so the dashboard's Agent board is real, not decorative.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Resumable: </a:t>
            </a:r>
            <a:r>
              <a:rPr sz="1350" b="0">
                <a:solidFill>
                  <a:srgbClr val="1A1A2E"/>
                </a:solidFill>
                <a:latin typeface="Segoe UI"/>
              </a:rPr>
              <a:t>runs are checkpointed in SQLite — a big batch that fails part-way resumes without re-spending tokens.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WHERE DATA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How Data Gets Into PACOS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Two inbound paths. Leads come from a CSV you maintain; reply signals come from Gmail. Both land in pacos.db.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83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E84A2F"/>
                </a:solidFill>
                <a:latin typeface="Segoe UI"/>
              </a:rPr>
              <a:t>PATH A — LEADS (the main input)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10312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20665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data/leads.csv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you maintain it
(no scraping)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926080" y="2423160"/>
            <a:ext cx="50292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20440" y="2103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210312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load_leads()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parse + derive
first_name · domain_tag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263640" y="2423160"/>
            <a:ext cx="50292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210312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67728" y="210312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ingest_leads()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upsert by lead_id
+ tracker row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601200" y="2423160"/>
            <a:ext cx="457200" cy="201168"/>
          </a:xfrm>
          <a:prstGeom prst="rightArrow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149840" y="2103120"/>
            <a:ext cx="1463040" cy="8686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9568" y="2103120"/>
            <a:ext cx="124358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pacos.db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SQLite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24612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5B5BE6"/>
                </a:solidFill>
                <a:latin typeface="Segoe UI"/>
              </a:rPr>
              <a:t>PATH B — REPLY SIGNALS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566160"/>
            <a:ext cx="22860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566160"/>
            <a:ext cx="206654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Gmail (read-only)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6B6B7B"/>
                </a:solidFill>
                <a:latin typeface="Segoe UI"/>
              </a:rPr>
              <a:t>alerts + replies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2926080" y="3886200"/>
            <a:ext cx="502920" cy="201168"/>
          </a:xfrm>
          <a:prstGeom prst="rightArrow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520440" y="3566160"/>
            <a:ext cx="2651760" cy="868680"/>
          </a:xfrm>
          <a:prstGeom prst="roundRect">
            <a:avLst>
              <a:gd name="adj" fmla="val 8000"/>
            </a:avLst>
          </a:prstGeom>
          <a:solidFill>
            <a:srgbClr val="2A2A44"/>
          </a:solidFill>
          <a:ln w="12700">
            <a:solidFill>
              <a:srgbClr val="2A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30168" y="3566160"/>
            <a:ext cx="243230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inbox monitor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exact email match?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263640" y="3886200"/>
            <a:ext cx="502920" cy="201168"/>
          </a:xfrm>
          <a:prstGeom prst="rightArrow">
            <a:avLst/>
          </a:prstGeom>
          <a:solidFill>
            <a:srgbClr val="5B5B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858000" y="3566160"/>
            <a:ext cx="4754880" cy="868680"/>
          </a:xfrm>
          <a:prstGeom prst="roundRect">
            <a:avLst>
              <a:gd name="adj" fmla="val 8000"/>
            </a:avLst>
          </a:prstGeom>
          <a:solidFill>
            <a:srgbClr val="1F9D55"/>
          </a:solidFill>
          <a:ln w="12700">
            <a:solidFill>
              <a:srgbClr val="1F9D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67728" y="3566160"/>
            <a:ext cx="4535424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Segoe UI"/>
              </a:rPr>
              <a:t>match → lead's tracker row   ·   no match → unmatched queue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754880"/>
            <a:ext cx="11064240" cy="141732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106070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When ingestion runs: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Segoe UI"/>
              </a:rPr>
              <a:t>•  Explicitly — pacos ingest loads leads.csv into the DB.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Segoe UI"/>
              </a:rPr>
              <a:t>•  Automatically — backend/CLI auto-ingest on first run; re-ingested before every generate.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1A1A2E"/>
                </a:solidFill>
                <a:latin typeface="Segoe UI"/>
              </a:rPr>
              <a:t>•  From the UI — the Leads form writes a lead directly; the JD parser and the chat propose one, and it is written only after you review and confirm.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DO THIS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4864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Create the environment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a Python venv, then install the package (editable).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Add your Nemotron key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free from build.nvidia.com → any Nemotron model → Get API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Provide leads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copy the sample, or drop in your own leads.csv.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400" b="1">
                <a:solidFill>
                  <a:srgbClr val="E84A2F"/>
                </a:solidFill>
                <a:latin typeface="Segoe UI"/>
              </a:rPr>
              <a:t>•  </a:t>
            </a:r>
            <a:r>
              <a:rPr sz="1400" b="1">
                <a:solidFill>
                  <a:srgbClr val="1A1A2E"/>
                </a:solidFill>
                <a:latin typeface="Segoe UI"/>
              </a:rPr>
              <a:t>(Optional) Gmail </a:t>
            </a:r>
            <a:r>
              <a:rPr sz="1400" b="0">
                <a:solidFill>
                  <a:srgbClr val="1A1A2E"/>
                </a:solidFill>
                <a:latin typeface="Segoe UI"/>
              </a:rPr>
              <a:t>— only if you want the inbox monitor; one-time OAuth.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49240" cy="35661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481328"/>
            <a:ext cx="5020056" cy="33467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terminal · run from the pacos/ folder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python -m venv .venv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.venv\Scripts\activate        # Windows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pip install -e 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copy .env.example .env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#   → set NVIDIA_API_KEY=...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copy data\sample_leads.csv data\leads.csv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ingest                  # load into pacos.db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Without a key, everything still runs in </a:t>
            </a:r>
            <a:r>
              <a:rPr sz="1300" b="1">
                <a:solidFill>
                  <a:srgbClr val="E84A2F"/>
                </a:solidFill>
                <a:latin typeface="Segoe UI"/>
              </a:rPr>
              <a:t>dry-run</a:t>
            </a:r>
            <a:r>
              <a:rPr sz="1300" b="0">
                <a:solidFill>
                  <a:srgbClr val="6B6B7B"/>
                </a:solidFill>
                <a:latin typeface="Segoe UI"/>
              </a:rPr>
              <a:t> mode (template placeholders) — great for trying the flow before spending a single token.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Running the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One double-click. PACOS.exe runs everything as a single process (API + dashboard) and opens your browser. The two-server dev mode still exists for coding sessions.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20240"/>
            <a:ext cx="5486400" cy="15544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2029968"/>
            <a:ext cx="515721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easiest — the packaged app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Double-click  pacos\PACOS.exe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picks a free port (8000+), opens the browser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close the console window to stop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rebuild after code changes: build_exe.bat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920240"/>
            <a:ext cx="5440680" cy="155448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2029968"/>
            <a:ext cx="5111496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dev mode — hot reload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terminal 1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.venv\Scripts\python -m uvicorn backend.main:app --port 8000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# terminal 2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8A8AB0"/>
                </a:solidFill>
                <a:latin typeface="Segoe UI"/>
              </a:rPr>
              <a:t>cd frontend &amp;&amp; npm run dev   → localhost:5173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1064240" cy="731520"/>
          </a:xfrm>
          <a:prstGeom prst="roundRect">
            <a:avLst>
              <a:gd name="adj" fmla="val 8000"/>
            </a:avLst>
          </a:prstGeom>
          <a:solidFill>
            <a:srgbClr val="5B5BE6"/>
          </a:solidFill>
          <a:ln w="12700">
            <a:solidFill>
              <a:srgbClr val="5B5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749039"/>
            <a:ext cx="10844784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The exe opens the browser for you — the folder PACOS.exe sits in is its workspace (.env, data\leads.csv, tracker.db, output\ live there)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1A1A2E"/>
                </a:solidFill>
                <a:latin typeface="Segoe UI"/>
              </a:rPr>
              <a:t>The six tabs, left to right, are the workflow: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1A2E"/>
                </a:solidFill>
                <a:latin typeface="Segoe UI"/>
              </a:rPr>
              <a:t>Dashboard → Leads → Assets → Approvals → Tracker → Chat</a:t>
            </a:r>
          </a:p>
          <a:p>
            <a:pPr algn="l">
              <a:lnSpc>
                <a:spcPct val="110000"/>
              </a:lnSpc>
            </a:pPr>
            <a:r>
              <a:rPr sz="1400" b="1">
                <a:solidFill>
                  <a:srgbClr val="1A1A2E"/>
                </a:solidFill>
                <a:latin typeface="Segoe UI"/>
              </a:rPr>
              <a:t>Generate outreach, review it, log what you sent, watch the pipeline — and capture new leads by chat.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Dashboard — Generate &amp; Watch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Stat tiles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leads, with-assets, follow-ups due, interested, interviews at a glance.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Generate with Nemotron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runs the full pipeline for every lead and writes the asset files.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Dry-run (templates)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same flow, no API call; use it to test without a key.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Review hooks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tick this to approve each lead's hook before the asset agents run.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</a:t>
            </a:r>
            <a:r>
              <a:rPr sz="1350" b="1">
                <a:solidFill>
                  <a:srgbClr val="1A1A2E"/>
                </a:solidFill>
                <a:latin typeface="Segoe UI"/>
              </a:rPr>
              <a:t>Agent status board </a:t>
            </a:r>
            <a:r>
              <a:rPr sz="1350" b="0">
                <a:solidFill>
                  <a:srgbClr val="1A1A2E"/>
                </a:solidFill>
                <a:latin typeface="Segoe UI"/>
              </a:rPr>
              <a:t>— the six agents light up idle → running → done as a run executes. This is live state from the store.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What you'll click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2011680"/>
            <a:ext cx="4892040" cy="10515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48272" y="2121408"/>
            <a:ext cx="4562856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 Generate with Nemotron ]   ← real copy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 Dry-run (templates)   ]   ← no tokens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[x] Review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49377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1A1A2E"/>
                </a:solidFill>
                <a:latin typeface="Segoe UI"/>
              </a:rPr>
              <a:t>Agent board (during a run):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Personalization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D9822B"/>
                </a:solidFill>
                <a:latin typeface="Consolas"/>
              </a:rPr>
              <a:t>● Cold Email        running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Cold DM        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1F9D55"/>
                </a:solidFill>
                <a:latin typeface="Consolas"/>
              </a:rPr>
              <a:t>● Cover Letter      done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D9822B"/>
                </a:solidFill>
                <a:latin typeface="Consolas"/>
              </a:rPr>
              <a:t>● CV Notes          running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6B6B7B"/>
                </a:solidFill>
                <a:latin typeface="Consolas"/>
              </a:rPr>
              <a:t>○ Inbox Monitor     idle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2 &amp;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Leads &amp; Assets — Review the Copy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Leads tab — every lead with its auto domain tone and channel. Click a row for its assets.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+ Add lead from JD — paste a job description; Nemotron extracts the contact, company and persona; you review, edit, and confirm.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+ Add lead manually — a plain form; what you type goes straight into leads.csv.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Assets tab — pick a lead, read the four generated files, hit Copy. You paste and send yourself — PACOS never sends.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Always read before sending — you are the last check.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The four files per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cold_email.txt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primary outreach when email is known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cold_dm.txt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LinkedIn DM, the no-email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cover_letter.txt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for formal applications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cv_notes.txt   </a:t>
            </a:r>
            <a:r>
              <a:rPr sz="1200" b="0">
                <a:solidFill>
                  <a:srgbClr val="6B6B7B"/>
                </a:solidFill>
                <a:latin typeface="Segoe UI"/>
              </a:rPr>
              <a:t>— how to tweak your CV for this 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Output lives on disk too:  </a:t>
            </a:r>
            <a:r>
              <a:rPr sz="1150" b="1">
                <a:solidFill>
                  <a:srgbClr val="1A1A2E"/>
                </a:solidFill>
                <a:latin typeface="Consolas"/>
              </a:rPr>
              <a:t>output/{Company}_{First}/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Approvals — Human-in-the-Loop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This is where you record real-world actions. Nothing here sends — it logs what you did so the tracker stays honest.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Ready to send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Leads with assets, still pending. After you paste &amp; send, click Email / DM / Both to log the channel. Follow-up auto-scheduled (+5 days).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Awaiting reply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Leads you've sent. When they respond, click Interested / Follow-up / Rejected to record the reply.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965960"/>
            <a:ext cx="356616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6720" y="1965960"/>
            <a:ext cx="3566160" cy="4572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2011680"/>
            <a:ext cx="32004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Unmatched replies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06040"/>
            <a:ext cx="31089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6B6B7B"/>
                </a:solidFill>
                <a:latin typeface="Segoe UI"/>
              </a:rPr>
              <a:t>Recruiter emails the monitor couldn't match by email. Pick the right lead and click Link to associate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3F3F7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4892040"/>
            <a:ext cx="10844784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1A1A2E"/>
                </a:solidFill>
                <a:latin typeface="Segoe UI"/>
              </a:rPr>
              <a:t>Status flow:  pending → sent → replied → interested → interview → offer   (any reply can branch to rejected)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FCFE0"/>
                </a:solidFill>
                <a:latin typeface="Segoe UI"/>
              </a:rPr>
              <a:t>each transition is one click here or one CLI command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Tracker — The Whole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Pipeline table — every lead with status, dates, channel, reply intent, follow-up due.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Inline status — change any lead's status from a dropdown.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Scan inbox — one click runs the read-only Gmail scan: replies matched to leads, the rest queued as unmatched (needs the one-time Gmail setup).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Daily digest — interviews, warm leads, follow-ups due, unmatched replies, job alerts.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Export anytime — pacos export writes tracker.csv for Excel/Sheets.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402336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572768"/>
            <a:ext cx="4974336" cy="3803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Tracker › Daily digest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daily digest — 2026-07-04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====================================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Pipeline: interested:2 interview:1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      pending:2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[!] Interview invites (1)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• Rohan Desai — PeakFlow Labs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[*] Interested / warm (2)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   • Aarav Mehta — Nurix AI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[&gt;] Follow-ups due (0)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[?] Unmatched replies (0)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[+] New job alerts ...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LAYER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Inbox Monitor (optional)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Read-only Gmail. It turns your inbox into structured signal — and never sends, deletes, or labels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577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One-time setup — create OAuth credentials in Google Cloud, run the auth script once.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Scan from the UI — the Tracker tab’s ‘Scan inbox’ button runs the same scan; no CLI needed.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Job alerts — LinkedIn / Naukri alert emails append to new_jobs.csv.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Replies (exact match) — a reply updates a lead only if the sender email equals the lead’s email.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Unmatched — everything else queues for you to associate by hand (no wrong guesses).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920240"/>
            <a:ext cx="5303520" cy="2377440"/>
          </a:xfrm>
          <a:prstGeom prst="roundRect">
            <a:avLst>
              <a:gd name="adj" fmla="val 8000"/>
            </a:avLst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2029968"/>
            <a:ext cx="4974336" cy="21579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8A8AB0"/>
                </a:solidFill>
                <a:latin typeface="Segoe UI"/>
              </a:rPr>
              <a:t>commands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python scripts/auth_gmail.py   # once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monitor --days 1         # read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associate                # list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D6D6E6"/>
                </a:solidFill>
                <a:latin typeface="Consolas"/>
              </a:rPr>
              <a:t>pacos associate &lt;reply_id&gt; &lt;lead_id&gt;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4480560"/>
            <a:ext cx="5303520" cy="960120"/>
          </a:xfrm>
          <a:prstGeom prst="roundRect">
            <a:avLst>
              <a:gd name="adj" fmla="val 8000"/>
            </a:avLst>
          </a:prstGeom>
          <a:solidFill>
            <a:srgbClr val="E4F7EC"/>
          </a:solidFill>
          <a:ln w="12700">
            <a:solidFill>
              <a:srgbClr val="B6E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4480560"/>
            <a:ext cx="48463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0F6B38"/>
                </a:solidFill>
                <a:latin typeface="Segoe UI"/>
              </a:rPr>
              <a:t>Read-only by design — scope is gmail.readonly. It cannot modify your mailbox.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POWER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Command-Line Reference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3444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Everything the dashboard does, the CLI does too. Run from the pacos/ folder.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691640"/>
          <a:ext cx="11064239" cy="42245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53404"/>
                <a:gridCol w="5310835"/>
              </a:tblGrid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Command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Segoe UI"/>
                        </a:rPr>
                        <a:t>What it does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ingest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Load data/leads.csv into pacos.db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leads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Preview parsed leads + domain tags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generate [--dry-run] [--limit N] [--review-hooks]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Run the agent pipeline; write assets + tracker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sent &lt;id&gt; --channel email|dm|both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Mark an approved outreach as sent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reply &lt;id&gt; --intent interested|rejected|follow-up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Record a recruiter reply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status &lt;id&gt; &lt;status&gt;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Move a lead along the status flow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monitor --days 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Read Gmail, match replies (exact)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associate [&lt;reply_id&gt; &lt;lead_id&gt;]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List / link unmatched replies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digest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Print today's action list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1A1A2E"/>
                          </a:solidFill>
                          <a:latin typeface="Segoe UI"/>
                        </a:rPr>
                        <a:t>pacos export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>
                          <a:solidFill>
                            <a:srgbClr val="1A1A2E"/>
                          </a:solidFill>
                          <a:latin typeface="Segoe UI"/>
                        </a:rPr>
                        <a:t>Write tracker.csv from the store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CONFIGURATION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The Model &amp; Settings (.env)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6B6B7B"/>
                </a:solidFill>
                <a:latin typeface="Segoe UI"/>
              </a:rPr>
              <a:t>PACOS runs on NVIDIA Nemotron via an OpenAI-compatible endpoint. Swap the model with one line — no code change.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8640" y="1920240"/>
          <a:ext cx="11064239" cy="29443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83126"/>
                <a:gridCol w="7081113"/>
              </a:tblGrid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Setting (.env)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Purpose / default</a:t>
                      </a:r>
                    </a:p>
                  </a:txBody>
                  <a:tcPr marL="73152" marR="54864" marT="27432" marB="27432" anchor="ctr">
                    <a:solidFill>
                      <a:srgbClr val="1A1A2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NVIDIA_API_KEY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Your Nemotron key (required for real generation)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NEMOTRON_MODEL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e.g. nvidia/nemotron-3-ultra-550b-a55b  or  llama-3.1-nemotron-70b-instruct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NEMOTRON_BASE_URL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https://integrate.api.nvidia.com/v1  (OpenAI-compatible)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LEADS_CSV_PATH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data/leads.csv  (your input sheet)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FOLLOW_UP_DAYS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5  (auto follow-up window after a send)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2E"/>
                          </a:solidFill>
                          <a:latin typeface="Segoe UI"/>
                        </a:rPr>
                        <a:t>CANDIDATE_NAME / HEADLINE / EMAIL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A1A2E"/>
                          </a:solidFill>
                          <a:latin typeface="Segoe UI"/>
                        </a:rPr>
                        <a:t>signs your outreach; feeds personalisation</a:t>
                      </a:r>
                    </a:p>
                  </a:txBody>
                  <a:tcPr marL="73152" marR="54864" marT="18288" marB="18288" anchor="ctr">
                    <a:solidFill>
                      <a:srgbClr val="F3F3F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48640" y="516636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6B6B7B"/>
                </a:solidFill>
                <a:latin typeface="Segoe UI"/>
              </a:rPr>
              <a:t>Because the endpoint is OpenAI-compatible, you can also point </a:t>
            </a:r>
            <a:r>
              <a:rPr sz="1250" b="1">
                <a:solidFill>
                  <a:srgbClr val="1A1A2E"/>
                </a:solidFill>
                <a:latin typeface="Consolas"/>
              </a:rPr>
              <a:t>NEMOTRON_BASE_URL</a:t>
            </a:r>
            <a:r>
              <a:rPr sz="1300" b="0">
                <a:solidFill>
                  <a:srgbClr val="6B6B7B"/>
                </a:solidFill>
                <a:latin typeface="Segoe UI"/>
              </a:rPr>
              <a:t> at a self-hosted NIM container without touching the code.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Golden Rules &amp; Everyday Rhythm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17320"/>
            <a:ext cx="539496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E84A2F"/>
                </a:solidFill>
                <a:latin typeface="Segoe UI"/>
              </a:rPr>
              <a:t>Golden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3776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E84A2F"/>
                </a:solidFill>
                <a:latin typeface="Segoe UI"/>
              </a:rPr>
              <a:t>•  PACOS never sends — you copy-paste every message.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Extractors only propose — JD parser &amp; chat leads are saved only when you confirm.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Always read an asset before sending it.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The inbox monitor is read-only.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tracker.db is the source of truth; tracker.csv is an export.</a:t>
            </a:r>
          </a:p>
          <a:p>
            <a:pPr algn="l">
              <a:lnSpc>
                <a:spcPct val="105000"/>
              </a:lnSpc>
            </a:pPr>
            <a:r>
              <a:rPr sz="1300" b="1">
                <a:solidFill>
                  <a:srgbClr val="E84A2F"/>
                </a:solidFill>
                <a:latin typeface="Segoe UI"/>
              </a:rPr>
              <a:t>•  Dry-run first when trying anything new — no tokens.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5544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5B5BE6"/>
                </a:solidFill>
                <a:latin typeface="Segoe UI"/>
              </a:rPr>
              <a:t>A typical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011680"/>
            <a:ext cx="48920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E84A2F"/>
                </a:solidFill>
                <a:latin typeface="Segoe UI"/>
              </a:rPr>
              <a:t>•  Add leads — paste a JD or chat (‘Add this person…’); confirm the proposal. Or use the form.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Generate — Dashboard ‘Generate with Nemotron’.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Review &amp; send — Assets tab, copy, paste into Gmail/LinkedIn (Tue–Thu mornings).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Log it — Approvals: mark sent.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Listen — Tracker ‘Scan inbox’; associate unmatched.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Segoe UI"/>
              </a:rPr>
              <a:t>•  Act — read the digest; follow up on what’s due.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You're ready to run PACOS.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20040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FCFE0"/>
                </a:solidFill>
                <a:latin typeface="Segoe UI"/>
              </a:rPr>
              <a:t>Generate  →  review  →  send by hand  →  log  →  track.  Repeat.</a:t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CFCFE0"/>
                </a:solidFill>
                <a:latin typeface="Segoe UI"/>
              </a:rPr>
              <a:t/>
            </a:r>
          </a:p>
          <a:p>
            <a:pPr algn="l">
              <a:lnSpc>
                <a:spcPct val="120000"/>
              </a:lnSpc>
            </a:pPr>
            <a:r>
              <a:rPr sz="1700" b="0">
                <a:solidFill>
                  <a:srgbClr val="CFCFE0"/>
                </a:solidFill>
                <a:latin typeface="Segoe UI"/>
              </a:rPr>
              <a:t>Double-click PACOS.exe — it opens the dashboard for you. Then click ‘Generate with Nemotron’.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521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7A7A92"/>
                </a:solidFill>
                <a:latin typeface="Segoe UI"/>
              </a:rPr>
              <a:t>PACOS · Personal AI Career Operating System · human-in-the-loop, always.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E84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B9B9E0"/>
                </a:solidFill>
                <a:latin typeface="Segoe UI"/>
              </a:rPr>
              <a:t>USING THE APP · TAB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Chat — Ask, Draft &amp;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6B6B7B"/>
                </a:solidFill>
                <a:latin typeface="Segoe UI"/>
              </a:rPr>
              <a:t>PACOS · Personal AI Career Operating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>
                <a:solidFill>
                  <a:srgbClr val="6B6B7B"/>
                </a:solidFill>
                <a:latin typeface="Segoe U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350" b="1">
                <a:solidFill>
                  <a:srgbClr val="E84A2F"/>
                </a:solidFill>
                <a:latin typeface="Segoe UI"/>
              </a:rPr>
              <a:t>•  Ask anything — the assistant knows your live pipeline stats (leads, statuses, follow-ups due).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Draft outreach — workshop wording before you paste it anywhere.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Capture a lead — describe a person or paste a JD; a ‘Proposed lead’ card appears with editable fields and a persona dropdown.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You confirm — the card writes to leads.csv only when you click Add. The chat itself can never write.</a:t>
            </a:r>
          </a:p>
          <a:p>
            <a:pPr algn="l">
              <a:lnSpc>
                <a:spcPct val="105000"/>
              </a:lnSpc>
            </a:pPr>
            <a:r>
              <a:rPr sz="1350" b="1">
                <a:solidFill>
                  <a:srgbClr val="E84A2F"/>
                </a:solidFill>
                <a:latin typeface="Segoe UI"/>
              </a:rPr>
              <a:t>•  No API key? — chat degrades gracefully and points you to the form and JD parser, which work offline.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1463040"/>
            <a:ext cx="530352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D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Segoe UI"/>
              </a:rPr>
              <a:t>Try these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057400"/>
            <a:ext cx="4937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1">
                <a:solidFill>
                  <a:srgbClr val="E84A2F"/>
                </a:solidFill>
                <a:latin typeface="Consolas"/>
              </a:rPr>
              <a:t>“How many leads do I have?”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“Add this person: Priya Shah, engineering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  manager at Razorpay, Bengaluru,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  priya@razorpay.com”</a:t>
            </a:r>
          </a:p>
          <a:p>
            <a:pPr algn="l">
              <a:lnSpc>
                <a:spcPct val="105000"/>
              </a:lnSpc>
            </a:pPr>
            <a:r>
              <a:rPr sz="1250" b="1">
                <a:solidFill>
                  <a:srgbClr val="E84A2F"/>
                </a:solidFill>
                <a:latin typeface="Consolas"/>
              </a:rPr>
              <a:t>…or paste a whole JD into the chat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572000"/>
            <a:ext cx="49377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6B6B7B"/>
                </a:solidFill>
                <a:latin typeface="Segoe UI"/>
              </a:rPr>
              <a:t>Flow:  proposal card → review the fields → [ Add to leads.csv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